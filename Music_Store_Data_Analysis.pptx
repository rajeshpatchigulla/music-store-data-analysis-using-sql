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8" r:id="rId3"/>
    <p:sldId id="263" r:id="rId4"/>
    <p:sldId id="261" r:id="rId5"/>
    <p:sldId id="266" r:id="rId6"/>
    <p:sldId id="267" r:id="rId7"/>
    <p:sldId id="268" r:id="rId8"/>
    <p:sldId id="265" r:id="rId9"/>
    <p:sldId id="262" r:id="rId10"/>
    <p:sldId id="270" r:id="rId11"/>
    <p:sldId id="271" r:id="rId12"/>
    <p:sldId id="272" r:id="rId13"/>
    <p:sldId id="273" r:id="rId14"/>
    <p:sldId id="274" r:id="rId15"/>
    <p:sldId id="275" r:id="rId16"/>
    <p:sldId id="276" r:id="rId17"/>
    <p:sldId id="277" r:id="rId18"/>
    <p:sldId id="279" r:id="rId19"/>
    <p:sldId id="25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040" autoAdjust="0"/>
  </p:normalViewPr>
  <p:slideViewPr>
    <p:cSldViewPr snapToGrid="0">
      <p:cViewPr varScale="1">
        <p:scale>
          <a:sx n="51" d="100"/>
          <a:sy n="51" d="100"/>
        </p:scale>
        <p:origin x="11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82E1743-6D75-5B08-DFD0-A52D5129E6C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6136BBFD-E47C-A3A8-248C-E2EC9FEBA67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E7EAC35-3471-4366-6928-A444AF2FDC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44897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33EF5F4-A33B-02A0-48EF-16B0824158D4}"/>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69BBB58-F060-1FD2-8912-593FCFD765A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0C8D9782-DAC8-0E84-E665-77FC2306EE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47311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78D3E61-873F-C61D-B399-9462C7D272D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DF1DB98-D997-9F82-8D50-902F0FAA043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E2198275-CFBE-4C10-252C-FB5C71836E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95091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CC409F1-0232-AB37-1906-10D3447E3F2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CA29820-661E-7FF8-6B2F-FC0B8AFC53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4CA12CB9-2027-2CBA-2846-DF3D153329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412062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F5595378-4958-D9CB-5C38-B0781396D43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F1226EF9-3B0E-9B3E-F533-57F15C5085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D1CFC69C-082E-6F8E-623B-17ADF76327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326896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407DC22-5966-D73B-8D51-74461A11710A}"/>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DF10F92-52B0-6F28-1B72-41BB5024F5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AFFC7203-9DA5-7222-FB5A-785B7F6F09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109543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EC3A703-BC51-74DA-57BA-920708DCE4B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FE10048-EBD2-7589-3856-5CCA251A9E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7F1744BC-D0D8-6DA4-0137-79A0713B70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013598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9B45BBCE-2A68-DF31-3BF1-6A10C2C339D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B262CC4-FC0E-AEA8-14BE-5F9A69A111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F325201-F5F7-B39B-C1AD-30D470437A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33602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9E2BF0C-0547-6B7F-F2BF-F4B2C5B8972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17C1435-D4DC-11B6-8327-47415D937AF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ACC93B6-71CB-8668-8F98-D14F0CF5BB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4170829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A0D0088-A510-9235-E01C-54271E79CFCD}"/>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9DCE0FAE-016B-6C8D-050A-84CA99D9A9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4F078E8-B3DE-8146-23F7-4DDD61F0F3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97856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B3B964A-D3B6-ABC2-1AB9-4A431D3D0C2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9E2C805-D810-8799-1D96-3D5AD44292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1517E9E-F900-D4C6-0B4A-72F15A4187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69301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1E888BD-7ADE-FEC1-1187-45E8F65D8560}"/>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8B5C0EA-DED5-DFDF-A3E7-D338E68237D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A36FD2EB-9A6D-1353-273E-1F3070AAE9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653805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FD2179A-017A-09B8-1774-CB950FC87028}"/>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A74D6751-5107-0ACE-39BD-02D8A4A579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8" name="Google Shape;108;p4:notes">
            <a:extLst>
              <a:ext uri="{FF2B5EF4-FFF2-40B4-BE49-F238E27FC236}">
                <a16:creationId xmlns:a16="http://schemas.microsoft.com/office/drawing/2014/main" id="{39150F3D-BC36-B253-9F2C-6020B5C19C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236409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A6030E41-08F6-80A1-7C58-E2C56A4A1AB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D78B809C-2C84-B400-EA27-4DBA29E18A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5BD419F-C03D-F52C-B0C0-13EB3DAFFF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9062616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BC2D51A-886D-3061-1F14-014C898EBB1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469F10EC-3BF7-F5EC-5488-93504F136F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6351F01A-708E-40D5-C663-FE0A69797E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14374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30F1330-3DCE-49DB-F52C-D96AF7CA27A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3F7073E4-D165-97C7-A037-681D7D4B5AB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2C801A3-BC9C-14AA-D111-3CE98B989F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84515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19828"/>
          </a:xfrm>
          <a:prstGeom prst="rect">
            <a:avLst/>
          </a:prstGeom>
          <a:noFill/>
          <a:ln>
            <a:noFill/>
          </a:ln>
        </p:spPr>
      </p:pic>
      <p:sp>
        <p:nvSpPr>
          <p:cNvPr id="99" name="Google Shape;99;p1"/>
          <p:cNvSpPr txBox="1"/>
          <p:nvPr/>
        </p:nvSpPr>
        <p:spPr>
          <a:xfrm>
            <a:off x="640078" y="3657078"/>
            <a:ext cx="10911841" cy="13233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4000" b="1" i="0" u="none" strike="noStrike" cap="none" dirty="0">
                <a:solidFill>
                  <a:srgbClr val="002060"/>
                </a:solidFill>
                <a:latin typeface="Times New Roman" panose="02020603050405020304" pitchFamily="18" charset="0"/>
                <a:cs typeface="Times New Roman" panose="02020603050405020304" pitchFamily="18" charset="0"/>
                <a:sym typeface="Arial"/>
              </a:rPr>
              <a:t>MUSIC STORE DATA ANALYSIS </a:t>
            </a:r>
          </a:p>
          <a:p>
            <a:pPr marL="0" marR="0" lvl="0" indent="0" algn="ctr" rtl="0">
              <a:lnSpc>
                <a:spcPct val="100000"/>
              </a:lnSpc>
              <a:spcBef>
                <a:spcPts val="0"/>
              </a:spcBef>
              <a:spcAft>
                <a:spcPts val="0"/>
              </a:spcAft>
              <a:buClr>
                <a:srgbClr val="000000"/>
              </a:buClr>
              <a:buSzPts val="1800"/>
              <a:buFont typeface="Arial"/>
              <a:buNone/>
            </a:pPr>
            <a:r>
              <a:rPr lang="en-US" sz="4000" b="1" i="0" u="none" strike="noStrike" cap="none" dirty="0">
                <a:solidFill>
                  <a:srgbClr val="002060"/>
                </a:solidFill>
                <a:latin typeface="Times New Roman" panose="02020603050405020304" pitchFamily="18" charset="0"/>
                <a:cs typeface="Times New Roman" panose="02020603050405020304" pitchFamily="18" charset="0"/>
                <a:sym typeface="Arial"/>
              </a:rPr>
              <a:t>USING SQL</a:t>
            </a:r>
            <a:endParaRPr sz="4000" b="1" i="0" u="none" strike="noStrike" cap="none" dirty="0">
              <a:solidFill>
                <a:srgbClr val="002060"/>
              </a:solidFill>
              <a:latin typeface="Times New Roman" panose="02020603050405020304" pitchFamily="18" charset="0"/>
              <a:cs typeface="Times New Roman" panose="02020603050405020304" pitchFamily="18" charset="0"/>
              <a:sym typeface="Arial"/>
            </a:endParaRPr>
          </a:p>
        </p:txBody>
      </p:sp>
      <p:pic>
        <p:nvPicPr>
          <p:cNvPr id="4" name="Picture 3">
            <a:extLst>
              <a:ext uri="{FF2B5EF4-FFF2-40B4-BE49-F238E27FC236}">
                <a16:creationId xmlns:a16="http://schemas.microsoft.com/office/drawing/2014/main" id="{F0232744-B3C4-FF03-3F87-69EE5718E574}"/>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rcRect t="29315" b="27580"/>
          <a:stretch>
            <a:fillRect/>
          </a:stretch>
        </p:blipFill>
        <p:spPr>
          <a:xfrm>
            <a:off x="4560913" y="5117276"/>
            <a:ext cx="3070174" cy="132339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4264073" y="556191"/>
            <a:ext cx="3663854" cy="75825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Introduction</a:t>
            </a:r>
            <a:endParaRPr b="1" dirty="0">
              <a:solidFill>
                <a:srgbClr val="C0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838200" y="1493134"/>
            <a:ext cx="10515600" cy="2838836"/>
          </a:xfrm>
          <a:prstGeom prst="rect">
            <a:avLst/>
          </a:prstGeom>
          <a:noFill/>
          <a:ln>
            <a:noFill/>
          </a:ln>
        </p:spPr>
        <p:txBody>
          <a:bodyPr spcFirstLastPara="1" wrap="square" lIns="91425" tIns="45700" rIns="91425" bIns="45700" anchor="t" anchorCtr="0">
            <a:normAutofit/>
          </a:bodyPr>
          <a:lstStyle/>
          <a:p>
            <a:pPr marL="114300" indent="0" algn="just">
              <a:buNone/>
            </a:pPr>
            <a:r>
              <a:rPr lang="en-US" sz="2400" dirty="0">
                <a:solidFill>
                  <a:schemeClr val="tx1"/>
                </a:solidFill>
                <a:latin typeface="Times New Roman" panose="02020603050405020304" pitchFamily="18" charset="0"/>
                <a:cs typeface="Times New Roman" panose="02020603050405020304" pitchFamily="18" charset="0"/>
              </a:rPr>
              <a:t>The digital music industry generates large volumes of customer and sales data. Analyzing this data helps understand user preferences, popular genres, top artists, and revenue patterns.</a:t>
            </a:r>
          </a:p>
          <a:p>
            <a:pPr marL="114300" indent="0" algn="just">
              <a:buNone/>
            </a:pPr>
            <a:r>
              <a:rPr lang="en-US" sz="2400" dirty="0">
                <a:solidFill>
                  <a:schemeClr val="tx1"/>
                </a:solidFill>
                <a:latin typeface="Times New Roman" panose="02020603050405020304" pitchFamily="18" charset="0"/>
                <a:cs typeface="Times New Roman" panose="02020603050405020304" pitchFamily="18" charset="0"/>
              </a:rPr>
              <a:t>This project uses SQL to analyze a music store database containing information about customers, tracks, albums, artists, and purchases. By applying queries, meaningful insights are extracted to support data-driven decision making in the music business.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647184A-50A1-5509-146A-002DEDE604B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0D6D4930-B1B9-6FFF-3887-728645C49F23}"/>
              </a:ext>
            </a:extLst>
          </p:cNvPr>
          <p:cNvSpPr txBox="1">
            <a:spLocks noGrp="1"/>
          </p:cNvSpPr>
          <p:nvPr>
            <p:ph type="title"/>
          </p:nvPr>
        </p:nvSpPr>
        <p:spPr>
          <a:xfrm>
            <a:off x="4840066" y="329312"/>
            <a:ext cx="2511868" cy="834511"/>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C00000"/>
                </a:solidFill>
                <a:latin typeface="Times New Roman" panose="02020603050405020304" pitchFamily="18" charset="0"/>
                <a:cs typeface="Times New Roman" panose="02020603050405020304" pitchFamily="18" charset="0"/>
              </a:rPr>
              <a:t>Objective</a:t>
            </a:r>
            <a:endParaRPr b="1" dirty="0">
              <a:solidFill>
                <a:srgbClr val="C00000"/>
              </a:solidFill>
              <a:latin typeface="Times New Roman" panose="02020603050405020304" pitchFamily="18" charset="0"/>
              <a:cs typeface="Times New Roman" panose="02020603050405020304" pitchFamily="18" charset="0"/>
            </a:endParaRPr>
          </a:p>
        </p:txBody>
      </p:sp>
      <p:sp>
        <p:nvSpPr>
          <p:cNvPr id="111" name="Google Shape;111;p4">
            <a:extLst>
              <a:ext uri="{FF2B5EF4-FFF2-40B4-BE49-F238E27FC236}">
                <a16:creationId xmlns:a16="http://schemas.microsoft.com/office/drawing/2014/main" id="{9A666CB6-C4F8-53DE-D0C1-5C2F469E9F2A}"/>
              </a:ext>
            </a:extLst>
          </p:cNvPr>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fontScale="92500" lnSpcReduction="10000"/>
          </a:bodyPr>
          <a:lstStyle/>
          <a:p>
            <a:pPr marL="114300" indent="0">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The objective of this project is to analyze a music store data using SQL to extract meaningful business insights.</a:t>
            </a:r>
          </a:p>
          <a:p>
            <a:pPr marL="114300" indent="0">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The key objectives of this project is:</a:t>
            </a:r>
          </a:p>
          <a:p>
            <a:pPr>
              <a:buClr>
                <a:srgbClr val="C00000"/>
              </a:buClr>
              <a:buFont typeface="Times New Roman" panose="02020603050405020304" pitchFamily="18"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Understand relational database structure.</a:t>
            </a:r>
          </a:p>
          <a:p>
            <a:pPr>
              <a:buClr>
                <a:srgbClr val="C00000"/>
              </a:buClr>
              <a:buFont typeface="Times New Roman" panose="02020603050405020304" pitchFamily="18"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Apply SQL concepts to get the meaningful insights from the data.</a:t>
            </a:r>
          </a:p>
          <a:p>
            <a:pPr>
              <a:buClr>
                <a:srgbClr val="C00000"/>
              </a:buClr>
              <a:buFont typeface="Times New Roman" panose="02020603050405020304" pitchFamily="18"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Practice complex SQL queries.</a:t>
            </a:r>
          </a:p>
          <a:p>
            <a:pPr>
              <a:buClr>
                <a:srgbClr val="C00000"/>
              </a:buClr>
              <a:buFont typeface="Times New Roman" panose="02020603050405020304" pitchFamily="18"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Analyze the customer behaviour and sales pattern.</a:t>
            </a:r>
          </a:p>
          <a:p>
            <a:pPr>
              <a:buClr>
                <a:srgbClr val="C00000"/>
              </a:buClr>
              <a:buFont typeface="Times New Roman" panose="02020603050405020304" pitchFamily="18"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Identify top customers, popular genres, popular cities and revenue sources.</a:t>
            </a:r>
          </a:p>
          <a:p>
            <a:pPr>
              <a:buClr>
                <a:srgbClr val="C00000"/>
              </a:buClr>
              <a:buFont typeface="Times New Roman" panose="02020603050405020304" pitchFamily="18" charset="0"/>
              <a:buChar char="☻"/>
            </a:pPr>
            <a:r>
              <a:rPr lang="en-US" sz="2400" dirty="0">
                <a:latin typeface="Times New Roman" panose="02020603050405020304" pitchFamily="18" charset="0"/>
                <a:ea typeface="Calibri" panose="020F0502020204030204" pitchFamily="34" charset="0"/>
                <a:cs typeface="Times New Roman" panose="02020603050405020304" pitchFamily="18" charset="0"/>
              </a:rPr>
              <a:t>Support data-driven business decisions.</a:t>
            </a:r>
          </a:p>
          <a:p>
            <a:pPr>
              <a:buFont typeface="Times New Roman" panose="02020603050405020304" pitchFamily="18" charset="0"/>
              <a:buChar cha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marL="114300" indent="0">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This project applies SQL concepts to a real-world dataset to simulate business analytics scenarios</a:t>
            </a:r>
          </a:p>
        </p:txBody>
      </p:sp>
    </p:spTree>
    <p:extLst>
      <p:ext uri="{BB962C8B-B14F-4D97-AF65-F5344CB8AC3E}">
        <p14:creationId xmlns:p14="http://schemas.microsoft.com/office/powerpoint/2010/main" val="20667002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32BD93C-AF1A-5EE1-953C-1F0249CB5E2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5B25FFE9-0CCE-1249-3BC1-F3519C87EF45}"/>
              </a:ext>
            </a:extLst>
          </p:cNvPr>
          <p:cNvSpPr txBox="1">
            <a:spLocks noGrp="1"/>
          </p:cNvSpPr>
          <p:nvPr>
            <p:ph type="title"/>
          </p:nvPr>
        </p:nvSpPr>
        <p:spPr>
          <a:xfrm>
            <a:off x="4392766" y="25030"/>
            <a:ext cx="3406467" cy="955924"/>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00"/>
              </a:buClr>
              <a:buSzPts val="4400"/>
              <a:buFont typeface="Calibri"/>
              <a:buNone/>
            </a:pPr>
            <a:r>
              <a:rPr lang="en-US" b="1" dirty="0">
                <a:solidFill>
                  <a:srgbClr val="C00000"/>
                </a:solidFill>
                <a:latin typeface="Times New Roman" panose="02020603050405020304" pitchFamily="18" charset="0"/>
                <a:cs typeface="Times New Roman" panose="02020603050405020304" pitchFamily="18" charset="0"/>
              </a:rPr>
              <a:t>Tables</a:t>
            </a:r>
            <a:endParaRPr b="1" dirty="0">
              <a:solidFill>
                <a:srgbClr val="C0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CB3454B7-55EE-A616-7893-45C9D6AB3BA3}"/>
              </a:ext>
            </a:extLst>
          </p:cNvPr>
          <p:cNvPicPr>
            <a:picLocks noChangeAspect="1"/>
          </p:cNvPicPr>
          <p:nvPr/>
        </p:nvPicPr>
        <p:blipFill>
          <a:blip r:embed="rId3"/>
          <a:stretch>
            <a:fillRect/>
          </a:stretch>
        </p:blipFill>
        <p:spPr>
          <a:xfrm>
            <a:off x="4469047" y="1202283"/>
            <a:ext cx="3253903" cy="4453434"/>
          </a:xfrm>
          <a:prstGeom prst="rect">
            <a:avLst/>
          </a:prstGeom>
        </p:spPr>
      </p:pic>
    </p:spTree>
    <p:extLst>
      <p:ext uri="{BB962C8B-B14F-4D97-AF65-F5344CB8AC3E}">
        <p14:creationId xmlns:p14="http://schemas.microsoft.com/office/powerpoint/2010/main" val="3690334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FEFA6A5-6650-0692-BF45-F02E94842C1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B181A39D-22F6-4CA6-23ED-1D548F783EC7}"/>
              </a:ext>
            </a:extLst>
          </p:cNvPr>
          <p:cNvSpPr txBox="1">
            <a:spLocks noGrp="1"/>
          </p:cNvSpPr>
          <p:nvPr>
            <p:ph type="title"/>
          </p:nvPr>
        </p:nvSpPr>
        <p:spPr>
          <a:xfrm>
            <a:off x="1399920" y="1048203"/>
            <a:ext cx="3406467" cy="493078"/>
          </a:xfrm>
          <a:prstGeom prst="rect">
            <a:avLst/>
          </a:prstGeom>
          <a:noFill/>
          <a:ln>
            <a:noFill/>
          </a:ln>
        </p:spPr>
        <p:txBody>
          <a:bodyPr spcFirstLastPara="1" wrap="square" lIns="91425" tIns="45700" rIns="91425" bIns="45700" anchor="ctr" anchorCtr="0">
            <a:normAutofit fontScale="90000"/>
          </a:bodyPr>
          <a:lstStyle/>
          <a:p>
            <a:pPr lvl="0" algn="ctr" rtl="0">
              <a:lnSpc>
                <a:spcPct val="100000"/>
              </a:lnSpc>
              <a:spcBef>
                <a:spcPts val="0"/>
              </a:spcBef>
              <a:spcAft>
                <a:spcPts val="0"/>
              </a:spcAft>
              <a:buClr>
                <a:srgbClr val="002060"/>
              </a:buClr>
              <a:buSzPts val="4400"/>
            </a:pPr>
            <a:r>
              <a:rPr lang="en-IN"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 Genre Table</a:t>
            </a:r>
            <a:endParaRPr sz="3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2" name="Google Shape;110;p4">
            <a:extLst>
              <a:ext uri="{FF2B5EF4-FFF2-40B4-BE49-F238E27FC236}">
                <a16:creationId xmlns:a16="http://schemas.microsoft.com/office/drawing/2014/main" id="{6C0D7CA9-AFEA-11DC-5FDD-993DA78D0754}"/>
              </a:ext>
            </a:extLst>
          </p:cNvPr>
          <p:cNvSpPr txBox="1">
            <a:spLocks/>
          </p:cNvSpPr>
          <p:nvPr/>
        </p:nvSpPr>
        <p:spPr>
          <a:xfrm>
            <a:off x="6701426" y="994378"/>
            <a:ext cx="4233170"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 MediaType Table</a:t>
            </a:r>
          </a:p>
        </p:txBody>
      </p:sp>
      <p:pic>
        <p:nvPicPr>
          <p:cNvPr id="4" name="Picture 3">
            <a:extLst>
              <a:ext uri="{FF2B5EF4-FFF2-40B4-BE49-F238E27FC236}">
                <a16:creationId xmlns:a16="http://schemas.microsoft.com/office/drawing/2014/main" id="{135C66B3-37E2-A37B-AD96-707E7B19D769}"/>
              </a:ext>
            </a:extLst>
          </p:cNvPr>
          <p:cNvPicPr>
            <a:picLocks noChangeAspect="1"/>
          </p:cNvPicPr>
          <p:nvPr/>
        </p:nvPicPr>
        <p:blipFill>
          <a:blip r:embed="rId3"/>
          <a:stretch>
            <a:fillRect/>
          </a:stretch>
        </p:blipFill>
        <p:spPr>
          <a:xfrm>
            <a:off x="503543" y="1729018"/>
            <a:ext cx="4673793" cy="840338"/>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0899D41C-89FD-302D-739C-01D12F46C4C7}"/>
              </a:ext>
            </a:extLst>
          </p:cNvPr>
          <p:cNvPicPr>
            <a:picLocks noChangeAspect="1"/>
          </p:cNvPicPr>
          <p:nvPr/>
        </p:nvPicPr>
        <p:blipFill>
          <a:blip r:embed="rId4"/>
          <a:stretch>
            <a:fillRect/>
          </a:stretch>
        </p:blipFill>
        <p:spPr>
          <a:xfrm>
            <a:off x="6043604" y="1729018"/>
            <a:ext cx="5282128" cy="840338"/>
          </a:xfrm>
          <a:prstGeom prst="rect">
            <a:avLst/>
          </a:prstGeom>
          <a:ln>
            <a:noFill/>
          </a:ln>
          <a:effectLst>
            <a:outerShdw blurRad="292100" dist="139700" dir="2700000" algn="tl" rotWithShape="0">
              <a:srgbClr val="333333">
                <a:alpha val="65000"/>
              </a:srgbClr>
            </a:outerShdw>
          </a:effectLst>
        </p:spPr>
      </p:pic>
      <p:sp>
        <p:nvSpPr>
          <p:cNvPr id="13" name="Google Shape;110;p4">
            <a:extLst>
              <a:ext uri="{FF2B5EF4-FFF2-40B4-BE49-F238E27FC236}">
                <a16:creationId xmlns:a16="http://schemas.microsoft.com/office/drawing/2014/main" id="{0994F2A4-AA71-626E-0982-8BD5DD300101}"/>
              </a:ext>
            </a:extLst>
          </p:cNvPr>
          <p:cNvSpPr txBox="1">
            <a:spLocks/>
          </p:cNvSpPr>
          <p:nvPr/>
        </p:nvSpPr>
        <p:spPr>
          <a:xfrm>
            <a:off x="943053" y="3144880"/>
            <a:ext cx="3893962" cy="560335"/>
          </a:xfrm>
          <a:prstGeom prst="rect">
            <a:avLst/>
          </a:prstGeom>
          <a:noFill/>
          <a:ln>
            <a:noFill/>
          </a:ln>
        </p:spPr>
        <p:txBody>
          <a:bodyPr spcFirstLastPara="1" wrap="square" lIns="91425" tIns="45700" rIns="91425" bIns="45700" anchor="ctr" anchorCtr="0">
            <a:normAutofit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 Employee Table</a:t>
            </a:r>
          </a:p>
        </p:txBody>
      </p:sp>
      <p:pic>
        <p:nvPicPr>
          <p:cNvPr id="16" name="Picture 15">
            <a:extLst>
              <a:ext uri="{FF2B5EF4-FFF2-40B4-BE49-F238E27FC236}">
                <a16:creationId xmlns:a16="http://schemas.microsoft.com/office/drawing/2014/main" id="{5EDD561D-D652-0C87-F7AF-1A9D04CABFF0}"/>
              </a:ext>
            </a:extLst>
          </p:cNvPr>
          <p:cNvPicPr>
            <a:picLocks noChangeAspect="1"/>
          </p:cNvPicPr>
          <p:nvPr/>
        </p:nvPicPr>
        <p:blipFill>
          <a:blip r:embed="rId5"/>
          <a:stretch>
            <a:fillRect/>
          </a:stretch>
        </p:blipFill>
        <p:spPr>
          <a:xfrm>
            <a:off x="1399920" y="3871626"/>
            <a:ext cx="2980229" cy="2552099"/>
          </a:xfrm>
          <a:prstGeom prst="rect">
            <a:avLst/>
          </a:prstGeom>
          <a:ln>
            <a:noFill/>
          </a:ln>
          <a:effectLst>
            <a:outerShdw blurRad="292100" dist="139700" dir="2700000" algn="tl" rotWithShape="0">
              <a:srgbClr val="333333">
                <a:alpha val="65000"/>
              </a:srgbClr>
            </a:outerShdw>
          </a:effectLst>
        </p:spPr>
      </p:pic>
      <p:pic>
        <p:nvPicPr>
          <p:cNvPr id="3" name="Picture 2">
            <a:extLst>
              <a:ext uri="{FF2B5EF4-FFF2-40B4-BE49-F238E27FC236}">
                <a16:creationId xmlns:a16="http://schemas.microsoft.com/office/drawing/2014/main" id="{8EC5E1C2-0DA7-BFAE-9116-272C2D75992F}"/>
              </a:ext>
            </a:extLst>
          </p:cNvPr>
          <p:cNvPicPr>
            <a:picLocks noChangeAspect="1"/>
          </p:cNvPicPr>
          <p:nvPr/>
        </p:nvPicPr>
        <p:blipFill>
          <a:blip r:embed="rId6"/>
          <a:stretch>
            <a:fillRect/>
          </a:stretch>
        </p:blipFill>
        <p:spPr>
          <a:xfrm>
            <a:off x="7208627" y="3871626"/>
            <a:ext cx="3218767" cy="2309939"/>
          </a:xfrm>
          <a:prstGeom prst="rect">
            <a:avLst/>
          </a:prstGeom>
          <a:ln>
            <a:noFill/>
          </a:ln>
          <a:effectLst>
            <a:outerShdw blurRad="292100" dist="139700" dir="2700000" algn="tl" rotWithShape="0">
              <a:srgbClr val="333333">
                <a:alpha val="65000"/>
              </a:srgbClr>
            </a:outerShdw>
          </a:effectLst>
        </p:spPr>
      </p:pic>
      <p:sp>
        <p:nvSpPr>
          <p:cNvPr id="14" name="Google Shape;110;p4">
            <a:extLst>
              <a:ext uri="{FF2B5EF4-FFF2-40B4-BE49-F238E27FC236}">
                <a16:creationId xmlns:a16="http://schemas.microsoft.com/office/drawing/2014/main" id="{461AAE93-A911-AD56-081E-465350893169}"/>
              </a:ext>
            </a:extLst>
          </p:cNvPr>
          <p:cNvSpPr txBox="1">
            <a:spLocks/>
          </p:cNvSpPr>
          <p:nvPr/>
        </p:nvSpPr>
        <p:spPr>
          <a:xfrm>
            <a:off x="6709141" y="3077760"/>
            <a:ext cx="4225455" cy="65335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 Customer Table</a:t>
            </a:r>
          </a:p>
        </p:txBody>
      </p:sp>
      <p:sp>
        <p:nvSpPr>
          <p:cNvPr id="6" name="Google Shape;110;p4">
            <a:extLst>
              <a:ext uri="{FF2B5EF4-FFF2-40B4-BE49-F238E27FC236}">
                <a16:creationId xmlns:a16="http://schemas.microsoft.com/office/drawing/2014/main" id="{AFF2DD1F-435B-048C-E75A-ADA04D78A232}"/>
              </a:ext>
            </a:extLst>
          </p:cNvPr>
          <p:cNvSpPr txBox="1">
            <a:spLocks/>
          </p:cNvSpPr>
          <p:nvPr/>
        </p:nvSpPr>
        <p:spPr>
          <a:xfrm>
            <a:off x="3759103" y="34677"/>
            <a:ext cx="4673793" cy="78161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FF0000"/>
              </a:buClr>
              <a:buSzPts val="4400"/>
            </a:pPr>
            <a:r>
              <a:rPr lang="en-US" b="1" dirty="0">
                <a:solidFill>
                  <a:srgbClr val="C00000"/>
                </a:solidFill>
                <a:latin typeface="Times New Roman" panose="02020603050405020304" pitchFamily="18" charset="0"/>
                <a:cs typeface="Times New Roman" panose="02020603050405020304" pitchFamily="18" charset="0"/>
              </a:rPr>
              <a:t>Tables Structures</a:t>
            </a:r>
          </a:p>
        </p:txBody>
      </p:sp>
    </p:spTree>
    <p:extLst>
      <p:ext uri="{BB962C8B-B14F-4D97-AF65-F5344CB8AC3E}">
        <p14:creationId xmlns:p14="http://schemas.microsoft.com/office/powerpoint/2010/main" val="715145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45D5A086-F3F0-AA27-32D8-CF567C30D5B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E05BBA94-A1CA-62DC-DDA5-33624C1A19F4}"/>
              </a:ext>
            </a:extLst>
          </p:cNvPr>
          <p:cNvSpPr txBox="1">
            <a:spLocks noGrp="1"/>
          </p:cNvSpPr>
          <p:nvPr>
            <p:ph type="title"/>
          </p:nvPr>
        </p:nvSpPr>
        <p:spPr>
          <a:xfrm>
            <a:off x="7728559" y="604489"/>
            <a:ext cx="2775222" cy="731522"/>
          </a:xfrm>
          <a:prstGeom prst="rect">
            <a:avLst/>
          </a:prstGeom>
          <a:noFill/>
          <a:ln>
            <a:noFill/>
          </a:ln>
        </p:spPr>
        <p:txBody>
          <a:bodyPr spcFirstLastPara="1" wrap="square" lIns="91425" tIns="45700" rIns="91425" bIns="45700" anchor="ctr" anchorCtr="0">
            <a:normAutofit/>
          </a:bodyPr>
          <a:lstStyle/>
          <a:p>
            <a:pPr lvl="0" algn="ctr" rtl="0">
              <a:lnSpc>
                <a:spcPct val="100000"/>
              </a:lnSpc>
              <a:spcBef>
                <a:spcPts val="0"/>
              </a:spcBef>
              <a:spcAft>
                <a:spcPts val="0"/>
              </a:spcAft>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6. Album Table</a:t>
            </a:r>
            <a:endParaRPr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3" name="Google Shape;110;p4">
            <a:extLst>
              <a:ext uri="{FF2B5EF4-FFF2-40B4-BE49-F238E27FC236}">
                <a16:creationId xmlns:a16="http://schemas.microsoft.com/office/drawing/2014/main" id="{7E4C0F8F-B8F1-A84B-6995-7F375206866F}"/>
              </a:ext>
            </a:extLst>
          </p:cNvPr>
          <p:cNvSpPr txBox="1">
            <a:spLocks/>
          </p:cNvSpPr>
          <p:nvPr/>
        </p:nvSpPr>
        <p:spPr>
          <a:xfrm>
            <a:off x="1274860" y="609132"/>
            <a:ext cx="2726158"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5. Artist Table</a:t>
            </a:r>
          </a:p>
        </p:txBody>
      </p:sp>
      <p:pic>
        <p:nvPicPr>
          <p:cNvPr id="17" name="Picture 16">
            <a:extLst>
              <a:ext uri="{FF2B5EF4-FFF2-40B4-BE49-F238E27FC236}">
                <a16:creationId xmlns:a16="http://schemas.microsoft.com/office/drawing/2014/main" id="{18E6290E-C208-32E1-8B83-5539DBAD5736}"/>
              </a:ext>
            </a:extLst>
          </p:cNvPr>
          <p:cNvPicPr>
            <a:picLocks noChangeAspect="1"/>
          </p:cNvPicPr>
          <p:nvPr/>
        </p:nvPicPr>
        <p:blipFill>
          <a:blip r:embed="rId3"/>
          <a:stretch>
            <a:fillRect/>
          </a:stretch>
        </p:blipFill>
        <p:spPr>
          <a:xfrm>
            <a:off x="619851" y="1336011"/>
            <a:ext cx="4036176" cy="693718"/>
          </a:xfrm>
          <a:prstGeom prst="rect">
            <a:avLst/>
          </a:prstGeom>
          <a:ln>
            <a:noFill/>
          </a:ln>
          <a:effectLst>
            <a:outerShdw blurRad="292100" dist="139700" dir="2700000" algn="tl" rotWithShape="0">
              <a:srgbClr val="333333">
                <a:alpha val="65000"/>
              </a:srgbClr>
            </a:outerShdw>
          </a:effectLst>
        </p:spPr>
      </p:pic>
      <p:pic>
        <p:nvPicPr>
          <p:cNvPr id="22" name="Picture 21">
            <a:extLst>
              <a:ext uri="{FF2B5EF4-FFF2-40B4-BE49-F238E27FC236}">
                <a16:creationId xmlns:a16="http://schemas.microsoft.com/office/drawing/2014/main" id="{7D003E88-DB87-5012-1D75-41BDD077AB7F}"/>
              </a:ext>
            </a:extLst>
          </p:cNvPr>
          <p:cNvPicPr>
            <a:picLocks noChangeAspect="1"/>
          </p:cNvPicPr>
          <p:nvPr/>
        </p:nvPicPr>
        <p:blipFill>
          <a:blip r:embed="rId4"/>
          <a:stretch>
            <a:fillRect/>
          </a:stretch>
        </p:blipFill>
        <p:spPr>
          <a:xfrm>
            <a:off x="7255477" y="1336011"/>
            <a:ext cx="4036175" cy="886376"/>
          </a:xfrm>
          <a:prstGeom prst="rect">
            <a:avLst/>
          </a:prstGeom>
          <a:ln>
            <a:noFill/>
          </a:ln>
          <a:effectLst>
            <a:outerShdw blurRad="292100" dist="139700" dir="2700000" algn="tl" rotWithShape="0">
              <a:srgbClr val="333333">
                <a:alpha val="65000"/>
              </a:srgbClr>
            </a:outerShdw>
          </a:effectLst>
        </p:spPr>
      </p:pic>
      <p:sp>
        <p:nvSpPr>
          <p:cNvPr id="2" name="Google Shape;110;p4">
            <a:extLst>
              <a:ext uri="{FF2B5EF4-FFF2-40B4-BE49-F238E27FC236}">
                <a16:creationId xmlns:a16="http://schemas.microsoft.com/office/drawing/2014/main" id="{5F7048BC-B1F2-7088-66C0-47D680C0F0CE}"/>
              </a:ext>
            </a:extLst>
          </p:cNvPr>
          <p:cNvSpPr txBox="1">
            <a:spLocks/>
          </p:cNvSpPr>
          <p:nvPr/>
        </p:nvSpPr>
        <p:spPr>
          <a:xfrm>
            <a:off x="7728559" y="3063238"/>
            <a:ext cx="3328805"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8. Invoice Table</a:t>
            </a:r>
          </a:p>
        </p:txBody>
      </p:sp>
      <p:sp>
        <p:nvSpPr>
          <p:cNvPr id="4" name="Google Shape;110;p4">
            <a:extLst>
              <a:ext uri="{FF2B5EF4-FFF2-40B4-BE49-F238E27FC236}">
                <a16:creationId xmlns:a16="http://schemas.microsoft.com/office/drawing/2014/main" id="{046A1C3A-FC2F-99E4-DA41-28A10FA6393D}"/>
              </a:ext>
            </a:extLst>
          </p:cNvPr>
          <p:cNvSpPr txBox="1">
            <a:spLocks/>
          </p:cNvSpPr>
          <p:nvPr/>
        </p:nvSpPr>
        <p:spPr>
          <a:xfrm>
            <a:off x="973537" y="3122488"/>
            <a:ext cx="3328804"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7. Track Table</a:t>
            </a:r>
          </a:p>
        </p:txBody>
      </p:sp>
      <p:pic>
        <p:nvPicPr>
          <p:cNvPr id="6" name="Picture 5">
            <a:extLst>
              <a:ext uri="{FF2B5EF4-FFF2-40B4-BE49-F238E27FC236}">
                <a16:creationId xmlns:a16="http://schemas.microsoft.com/office/drawing/2014/main" id="{5F9B6D6B-5E28-A235-95D3-F106B195EAF1}"/>
              </a:ext>
            </a:extLst>
          </p:cNvPr>
          <p:cNvPicPr>
            <a:picLocks noChangeAspect="1"/>
          </p:cNvPicPr>
          <p:nvPr/>
        </p:nvPicPr>
        <p:blipFill>
          <a:blip r:embed="rId5"/>
          <a:stretch>
            <a:fillRect/>
          </a:stretch>
        </p:blipFill>
        <p:spPr>
          <a:xfrm>
            <a:off x="520784" y="3929627"/>
            <a:ext cx="4997599" cy="2329841"/>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495986EE-9A33-8C56-C708-D99E27B5CD59}"/>
              </a:ext>
            </a:extLst>
          </p:cNvPr>
          <p:cNvPicPr>
            <a:picLocks noChangeAspect="1"/>
          </p:cNvPicPr>
          <p:nvPr/>
        </p:nvPicPr>
        <p:blipFill>
          <a:blip r:embed="rId6"/>
          <a:stretch>
            <a:fillRect/>
          </a:stretch>
        </p:blipFill>
        <p:spPr>
          <a:xfrm>
            <a:off x="7356123" y="3929627"/>
            <a:ext cx="4315093" cy="1992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053266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1278EB9-4087-549B-7344-ADE3ABF0514D}"/>
            </a:ext>
          </a:extLst>
        </p:cNvPr>
        <p:cNvGrpSpPr/>
        <p:nvPr/>
      </p:nvGrpSpPr>
      <p:grpSpPr>
        <a:xfrm>
          <a:off x="0" y="0"/>
          <a:ext cx="0" cy="0"/>
          <a:chOff x="0" y="0"/>
          <a:chExt cx="0" cy="0"/>
        </a:xfrm>
      </p:grpSpPr>
      <p:sp>
        <p:nvSpPr>
          <p:cNvPr id="2" name="Google Shape;110;p4">
            <a:extLst>
              <a:ext uri="{FF2B5EF4-FFF2-40B4-BE49-F238E27FC236}">
                <a16:creationId xmlns:a16="http://schemas.microsoft.com/office/drawing/2014/main" id="{B0069EB4-ABF3-1B83-A782-AF2F68DBD19F}"/>
              </a:ext>
            </a:extLst>
          </p:cNvPr>
          <p:cNvSpPr txBox="1">
            <a:spLocks/>
          </p:cNvSpPr>
          <p:nvPr/>
        </p:nvSpPr>
        <p:spPr>
          <a:xfrm>
            <a:off x="576191" y="660298"/>
            <a:ext cx="4225455" cy="613024"/>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US"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9. Invoiceline Table</a:t>
            </a:r>
          </a:p>
        </p:txBody>
      </p:sp>
      <p:pic>
        <p:nvPicPr>
          <p:cNvPr id="5" name="Picture 4">
            <a:extLst>
              <a:ext uri="{FF2B5EF4-FFF2-40B4-BE49-F238E27FC236}">
                <a16:creationId xmlns:a16="http://schemas.microsoft.com/office/drawing/2014/main" id="{EDE1F9BC-6E8B-6675-660E-3CEB96514BB5}"/>
              </a:ext>
            </a:extLst>
          </p:cNvPr>
          <p:cNvPicPr>
            <a:picLocks noChangeAspect="1"/>
          </p:cNvPicPr>
          <p:nvPr/>
        </p:nvPicPr>
        <p:blipFill>
          <a:blip r:embed="rId3"/>
          <a:stretch>
            <a:fillRect/>
          </a:stretch>
        </p:blipFill>
        <p:spPr>
          <a:xfrm>
            <a:off x="398468" y="1416899"/>
            <a:ext cx="4741381" cy="1418143"/>
          </a:xfrm>
          <a:prstGeom prst="rect">
            <a:avLst/>
          </a:prstGeom>
          <a:ln>
            <a:noFill/>
          </a:ln>
          <a:effectLst>
            <a:outerShdw blurRad="292100" dist="139700" dir="2700000" algn="tl" rotWithShape="0">
              <a:srgbClr val="333333">
                <a:alpha val="65000"/>
              </a:srgbClr>
            </a:outerShdw>
          </a:effectLst>
        </p:spPr>
      </p:pic>
      <p:sp>
        <p:nvSpPr>
          <p:cNvPr id="7" name="Google Shape;110;p4">
            <a:extLst>
              <a:ext uri="{FF2B5EF4-FFF2-40B4-BE49-F238E27FC236}">
                <a16:creationId xmlns:a16="http://schemas.microsoft.com/office/drawing/2014/main" id="{3DF3910A-151E-A211-14CF-82E5B5E0670A}"/>
              </a:ext>
            </a:extLst>
          </p:cNvPr>
          <p:cNvSpPr txBox="1">
            <a:spLocks/>
          </p:cNvSpPr>
          <p:nvPr/>
        </p:nvSpPr>
        <p:spPr>
          <a:xfrm>
            <a:off x="7271943" y="601048"/>
            <a:ext cx="3893962" cy="73152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10. Playlist Table</a:t>
            </a:r>
          </a:p>
        </p:txBody>
      </p:sp>
      <p:pic>
        <p:nvPicPr>
          <p:cNvPr id="9" name="Picture 8">
            <a:extLst>
              <a:ext uri="{FF2B5EF4-FFF2-40B4-BE49-F238E27FC236}">
                <a16:creationId xmlns:a16="http://schemas.microsoft.com/office/drawing/2014/main" id="{3138B7A9-7DED-4405-5CD5-F3213B16ABE5}"/>
              </a:ext>
            </a:extLst>
          </p:cNvPr>
          <p:cNvPicPr>
            <a:picLocks noChangeAspect="1"/>
          </p:cNvPicPr>
          <p:nvPr/>
        </p:nvPicPr>
        <p:blipFill>
          <a:blip r:embed="rId4"/>
          <a:stretch>
            <a:fillRect/>
          </a:stretch>
        </p:blipFill>
        <p:spPr>
          <a:xfrm>
            <a:off x="6873633" y="1416899"/>
            <a:ext cx="4919899" cy="829408"/>
          </a:xfrm>
          <a:prstGeom prst="rect">
            <a:avLst/>
          </a:prstGeom>
          <a:ln>
            <a:noFill/>
          </a:ln>
          <a:effectLst>
            <a:outerShdw blurRad="292100" dist="139700" dir="2700000" algn="tl" rotWithShape="0">
              <a:srgbClr val="333333">
                <a:alpha val="65000"/>
              </a:srgbClr>
            </a:outerShdw>
          </a:effectLst>
        </p:spPr>
      </p:pic>
      <p:sp>
        <p:nvSpPr>
          <p:cNvPr id="110" name="Google Shape;110;p4">
            <a:extLst>
              <a:ext uri="{FF2B5EF4-FFF2-40B4-BE49-F238E27FC236}">
                <a16:creationId xmlns:a16="http://schemas.microsoft.com/office/drawing/2014/main" id="{CB8BEB4B-ED75-8EC2-8BAC-99E3D555E579}"/>
              </a:ext>
            </a:extLst>
          </p:cNvPr>
          <p:cNvSpPr txBox="1">
            <a:spLocks noGrp="1"/>
          </p:cNvSpPr>
          <p:nvPr>
            <p:ph type="title"/>
          </p:nvPr>
        </p:nvSpPr>
        <p:spPr>
          <a:xfrm>
            <a:off x="3708964" y="4389796"/>
            <a:ext cx="4774072" cy="731522"/>
          </a:xfrm>
          <a:prstGeom prst="rect">
            <a:avLst/>
          </a:prstGeom>
          <a:noFill/>
          <a:ln>
            <a:noFill/>
          </a:ln>
        </p:spPr>
        <p:txBody>
          <a:bodyPr spcFirstLastPara="1" wrap="square" lIns="91425" tIns="45700" rIns="91425" bIns="45700" anchor="ctr" anchorCtr="0">
            <a:normAutofit/>
          </a:bodyPr>
          <a:lstStyle/>
          <a:p>
            <a:pPr lvl="0" algn="ctr" rtl="0">
              <a:lnSpc>
                <a:spcPct val="100000"/>
              </a:lnSpc>
              <a:spcBef>
                <a:spcPts val="0"/>
              </a:spcBef>
              <a:spcAft>
                <a:spcPts val="0"/>
              </a:spcAft>
              <a:buClr>
                <a:srgbClr val="002060"/>
              </a:buClr>
              <a:buSzPts val="4400"/>
            </a:pPr>
            <a:r>
              <a:rPr lang="en-IN"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11. Playlisttrack Table</a:t>
            </a:r>
            <a:endParaRPr sz="32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21C6A36-BC0C-4D40-614F-465D0AD8B9A5}"/>
              </a:ext>
            </a:extLst>
          </p:cNvPr>
          <p:cNvPicPr>
            <a:picLocks noChangeAspect="1"/>
          </p:cNvPicPr>
          <p:nvPr/>
        </p:nvPicPr>
        <p:blipFill>
          <a:blip r:embed="rId5"/>
          <a:stretch>
            <a:fillRect/>
          </a:stretch>
        </p:blipFill>
        <p:spPr>
          <a:xfrm>
            <a:off x="3979448" y="5362781"/>
            <a:ext cx="4440200" cy="8976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138450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55F29B9A-8694-0106-C6EF-855C63E667CD}"/>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561DBA6-A9E6-D0F6-644E-D100231320DE}"/>
              </a:ext>
            </a:extLst>
          </p:cNvPr>
          <p:cNvSpPr txBox="1">
            <a:spLocks noGrp="1"/>
          </p:cNvSpPr>
          <p:nvPr>
            <p:ph type="title"/>
          </p:nvPr>
        </p:nvSpPr>
        <p:spPr>
          <a:xfrm>
            <a:off x="4392766" y="25030"/>
            <a:ext cx="3406467" cy="955924"/>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00"/>
              </a:buClr>
              <a:buSzPts val="4400"/>
              <a:buFont typeface="Calibri"/>
              <a:buNone/>
            </a:pPr>
            <a:r>
              <a:rPr lang="en-US" b="1" dirty="0">
                <a:solidFill>
                  <a:srgbClr val="C00000"/>
                </a:solidFill>
                <a:latin typeface="Times New Roman" panose="02020603050405020304" pitchFamily="18" charset="0"/>
                <a:cs typeface="Times New Roman" panose="02020603050405020304" pitchFamily="18" charset="0"/>
              </a:rPr>
              <a:t>ER Diagram</a:t>
            </a:r>
            <a:endParaRPr b="1" dirty="0">
              <a:solidFill>
                <a:srgbClr val="C0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3AACC73-CB03-E670-D4DB-80C4C0E00F0F}"/>
              </a:ext>
            </a:extLst>
          </p:cNvPr>
          <p:cNvPicPr>
            <a:picLocks noChangeAspect="1"/>
          </p:cNvPicPr>
          <p:nvPr/>
        </p:nvPicPr>
        <p:blipFill>
          <a:blip r:embed="rId3"/>
          <a:stretch>
            <a:fillRect/>
          </a:stretch>
        </p:blipFill>
        <p:spPr>
          <a:xfrm>
            <a:off x="3269294" y="804210"/>
            <a:ext cx="5741082" cy="53084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034159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BAEBD39B-429F-C864-D603-41FDEACCD88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722EA84E-B62E-1496-E7C5-A124E8E0520F}"/>
              </a:ext>
            </a:extLst>
          </p:cNvPr>
          <p:cNvSpPr txBox="1">
            <a:spLocks noGrp="1"/>
          </p:cNvSpPr>
          <p:nvPr>
            <p:ph type="title"/>
          </p:nvPr>
        </p:nvSpPr>
        <p:spPr>
          <a:xfrm>
            <a:off x="4392766" y="167571"/>
            <a:ext cx="34064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US" b="1" dirty="0">
                <a:solidFill>
                  <a:srgbClr val="C00000"/>
                </a:solidFill>
                <a:latin typeface="Times New Roman" panose="02020603050405020304" pitchFamily="18" charset="0"/>
                <a:cs typeface="Times New Roman" panose="02020603050405020304" pitchFamily="18" charset="0"/>
              </a:rPr>
              <a:t>Analysis</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D057416-805E-6547-F5AB-C3A079A37344}"/>
              </a:ext>
            </a:extLst>
          </p:cNvPr>
          <p:cNvSpPr>
            <a:spLocks noGrp="1"/>
          </p:cNvSpPr>
          <p:nvPr>
            <p:ph type="body" idx="1"/>
          </p:nvPr>
        </p:nvSpPr>
        <p:spPr>
          <a:xfrm>
            <a:off x="838200" y="1108710"/>
            <a:ext cx="10786110" cy="5097779"/>
          </a:xfrm>
        </p:spPr>
        <p:txBody>
          <a:bodyPr>
            <a:normAutofit lnSpcReduction="10000"/>
          </a:bodyPr>
          <a:lstStyle/>
          <a:p>
            <a:pPr>
              <a:buClr>
                <a:srgbClr val="C00000"/>
              </a:buClr>
              <a:buFontTx/>
              <a:buChar char="☻"/>
            </a:pPr>
            <a:r>
              <a:rPr lang="en-US" sz="1400" dirty="0">
                <a:latin typeface="Times New Roman" panose="02020603050405020304" pitchFamily="18" charset="0"/>
                <a:ea typeface="Calibri" panose="020F0502020204030204" pitchFamily="34" charset="0"/>
                <a:cs typeface="Times New Roman" panose="02020603050405020304" pitchFamily="18" charset="0"/>
              </a:rPr>
              <a:t>Who is the senior most employee based on job title?</a:t>
            </a:r>
            <a:endParaRPr lang="en-IN" sz="1400" dirty="0">
              <a:latin typeface="Times New Roman" panose="02020603050405020304" pitchFamily="18" charset="0"/>
              <a:cs typeface="Times New Roman" panose="02020603050405020304" pitchFamily="18" charset="0"/>
            </a:endParaRPr>
          </a:p>
          <a:p>
            <a:pPr>
              <a:buClr>
                <a:srgbClr val="C00000"/>
              </a:buClr>
              <a:buFontTx/>
              <a:buChar char="☻"/>
            </a:pPr>
            <a:r>
              <a:rPr lang="en-IN" sz="1400" dirty="0">
                <a:latin typeface="Times New Roman" panose="02020603050405020304" pitchFamily="18" charset="0"/>
                <a:cs typeface="Times New Roman" panose="02020603050405020304" pitchFamily="18" charset="0"/>
              </a:rPr>
              <a:t>Which countries have the most Invoices?</a:t>
            </a:r>
          </a:p>
          <a:p>
            <a:pPr>
              <a:buClr>
                <a:srgbClr val="C00000"/>
              </a:buClr>
              <a:buFontTx/>
              <a:buChar char="☻"/>
            </a:pPr>
            <a:r>
              <a:rPr lang="en-IN" sz="1400" dirty="0">
                <a:latin typeface="Times New Roman" panose="02020603050405020304" pitchFamily="18" charset="0"/>
                <a:cs typeface="Times New Roman" panose="02020603050405020304" pitchFamily="18" charset="0"/>
              </a:rPr>
              <a:t>What are the top 3 values of total invoice?</a:t>
            </a:r>
          </a:p>
          <a:p>
            <a:pPr>
              <a:buClr>
                <a:srgbClr val="C00000"/>
              </a:buClr>
              <a:buFontTx/>
              <a:buChar char="☻"/>
            </a:pPr>
            <a:r>
              <a:rPr lang="en-IN" sz="1400" dirty="0">
                <a:latin typeface="Times New Roman" panose="02020603050405020304" pitchFamily="18" charset="0"/>
                <a:cs typeface="Times New Roman" panose="02020603050405020304" pitchFamily="18" charset="0"/>
              </a:rPr>
              <a:t>Which city has the best customers? - We would like to throw a promotional Music Festival in the city we made the most money. Write a query that returns one city that has the highest sum of invoice totals. Return both the city name &amp; sum of all invoice totals</a:t>
            </a:r>
          </a:p>
          <a:p>
            <a:pPr>
              <a:buClr>
                <a:srgbClr val="C00000"/>
              </a:buClr>
              <a:buFontTx/>
              <a:buChar char="☻"/>
            </a:pPr>
            <a:r>
              <a:rPr lang="en-IN" sz="1400" dirty="0">
                <a:latin typeface="Times New Roman" panose="02020603050405020304" pitchFamily="18" charset="0"/>
                <a:cs typeface="Times New Roman" panose="02020603050405020304" pitchFamily="18" charset="0"/>
              </a:rPr>
              <a:t>Who is the best customer? - The customer who has spent the most money will be declared the best customer. Write a query that returns the person who has spent the most money</a:t>
            </a:r>
          </a:p>
          <a:p>
            <a:pPr>
              <a:buClr>
                <a:srgbClr val="C00000"/>
              </a:buClr>
              <a:buFontTx/>
              <a:buChar char="☻"/>
            </a:pPr>
            <a:r>
              <a:rPr lang="en-IN" sz="1400" dirty="0">
                <a:latin typeface="Times New Roman" panose="02020603050405020304" pitchFamily="18" charset="0"/>
                <a:cs typeface="Times New Roman" panose="02020603050405020304" pitchFamily="18" charset="0"/>
              </a:rPr>
              <a:t>Write a query to return the email, first name, last name, &amp; Genre of all Rock Music listeners. Return your list ordered alphabetically by email starting with A</a:t>
            </a:r>
          </a:p>
          <a:p>
            <a:pPr>
              <a:buClr>
                <a:srgbClr val="C00000"/>
              </a:buClr>
              <a:buFontTx/>
              <a:buChar char="☻"/>
            </a:pPr>
            <a:r>
              <a:rPr lang="en-IN" sz="1400" dirty="0">
                <a:latin typeface="Times New Roman" panose="02020603050405020304" pitchFamily="18" charset="0"/>
                <a:cs typeface="Times New Roman" panose="02020603050405020304" pitchFamily="18" charset="0"/>
              </a:rPr>
              <a:t>Let's invite the artists who have written the most rock music in our dataset. Write a query that returns the Artist name and total track count of the top 10 rock bands </a:t>
            </a:r>
          </a:p>
          <a:p>
            <a:pPr>
              <a:buClr>
                <a:srgbClr val="C00000"/>
              </a:buClr>
              <a:buFontTx/>
              <a:buChar char="☻"/>
            </a:pPr>
            <a:r>
              <a:rPr lang="en-IN" sz="1400" dirty="0">
                <a:latin typeface="Times New Roman" panose="02020603050405020304" pitchFamily="18" charset="0"/>
                <a:cs typeface="Times New Roman" panose="02020603050405020304" pitchFamily="18" charset="0"/>
              </a:rPr>
              <a:t>Return all the track names that have a song length longer than the average song length.- Return the Name and Milliseconds for each track. Order by the song length, with the longest songs listed first</a:t>
            </a:r>
          </a:p>
          <a:p>
            <a:pPr>
              <a:buClr>
                <a:srgbClr val="C00000"/>
              </a:buClr>
              <a:buFontTx/>
              <a:buChar char="☻"/>
            </a:pPr>
            <a:r>
              <a:rPr lang="en-IN" sz="1400" dirty="0">
                <a:latin typeface="Times New Roman" panose="02020603050405020304" pitchFamily="18" charset="0"/>
                <a:cs typeface="Times New Roman" panose="02020603050405020304" pitchFamily="18" charset="0"/>
              </a:rPr>
              <a:t>Find how much amount is spent by each customer on artists? Write a query to return customer name, artist name and total spent </a:t>
            </a:r>
          </a:p>
          <a:p>
            <a:pPr>
              <a:buClr>
                <a:srgbClr val="C00000"/>
              </a:buClr>
              <a:buFontTx/>
              <a:buChar char="☻"/>
            </a:pPr>
            <a:r>
              <a:rPr lang="en-IN" sz="1400" dirty="0">
                <a:latin typeface="Times New Roman" panose="02020603050405020304" pitchFamily="18" charset="0"/>
                <a:cs typeface="Times New Roman" panose="02020603050405020304" pitchFamily="18" charset="0"/>
              </a:rPr>
              <a:t>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p>
          <a:p>
            <a:pPr>
              <a:buClr>
                <a:srgbClr val="C00000"/>
              </a:buClr>
              <a:buFontTx/>
              <a:buChar char="☻"/>
            </a:pPr>
            <a:r>
              <a:rPr lang="en-IN" sz="1400" dirty="0">
                <a:latin typeface="Times New Roman" panose="02020603050405020304" pitchFamily="18" charset="0"/>
                <a:cs typeface="Times New Roman" panose="02020603050405020304" pitchFamily="18" charset="0"/>
              </a:rPr>
              <a:t>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p>
          <a:p>
            <a:pPr>
              <a:buClr>
                <a:srgbClr val="C00000"/>
              </a:buClr>
              <a:buFontTx/>
              <a:buChar char="☻"/>
            </a:pPr>
            <a:endParaRPr lang="en-IN" sz="1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67198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D5A0E50A-1301-9A7C-384C-7C851258444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0DDB211F-7178-2066-94DC-C6B721A2076A}"/>
              </a:ext>
            </a:extLst>
          </p:cNvPr>
          <p:cNvSpPr txBox="1">
            <a:spLocks noGrp="1"/>
          </p:cNvSpPr>
          <p:nvPr>
            <p:ph type="title"/>
          </p:nvPr>
        </p:nvSpPr>
        <p:spPr>
          <a:xfrm>
            <a:off x="2809834" y="259011"/>
            <a:ext cx="6572332" cy="81540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4400"/>
              <a:buFont typeface="Calibri"/>
              <a:buNone/>
            </a:pPr>
            <a:r>
              <a:rPr lang="en-IN" sz="2000" b="1" dirty="0">
                <a:solidFill>
                  <a:srgbClr val="FF0000"/>
                </a:solidFill>
                <a:latin typeface="Times New Roman" panose="02020603050405020304" pitchFamily="18" charset="0"/>
                <a:cs typeface="Times New Roman" panose="02020603050405020304" pitchFamily="18" charset="0"/>
              </a:rPr>
              <a:t>1. Who is the senior most employee based on job title?</a:t>
            </a:r>
            <a:br>
              <a:rPr lang="en-IN" sz="2000" b="1" dirty="0">
                <a:solidFill>
                  <a:srgbClr val="FF0000"/>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(Senior Most Employee </a:t>
            </a:r>
            <a:r>
              <a:rPr lang="en-IN"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Madhan Mohan [S.G.M]</a:t>
            </a:r>
            <a:r>
              <a:rPr lang="en-IN" sz="2000" b="1" dirty="0">
                <a:solidFill>
                  <a:schemeClr val="tx1"/>
                </a:solidFill>
                <a:latin typeface="Times New Roman" panose="02020603050405020304" pitchFamily="18" charset="0"/>
                <a:cs typeface="Times New Roman" panose="02020603050405020304" pitchFamily="18" charset="0"/>
              </a:rPr>
              <a:t>)</a:t>
            </a:r>
            <a:endParaRPr sz="20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CBC353B-20E5-6EBC-3273-0DD3B0845925}"/>
              </a:ext>
            </a:extLst>
          </p:cNvPr>
          <p:cNvPicPr>
            <a:picLocks noChangeAspect="1"/>
          </p:cNvPicPr>
          <p:nvPr/>
        </p:nvPicPr>
        <p:blipFill>
          <a:blip r:embed="rId3"/>
          <a:stretch>
            <a:fillRect/>
          </a:stretch>
        </p:blipFill>
        <p:spPr>
          <a:xfrm>
            <a:off x="410742" y="1317512"/>
            <a:ext cx="9392961" cy="543001"/>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D8CC0B9E-0069-A827-20B7-186ABCC197B6}"/>
              </a:ext>
            </a:extLst>
          </p:cNvPr>
          <p:cNvPicPr>
            <a:picLocks noChangeAspect="1"/>
          </p:cNvPicPr>
          <p:nvPr/>
        </p:nvPicPr>
        <p:blipFill>
          <a:blip r:embed="rId4"/>
          <a:stretch>
            <a:fillRect/>
          </a:stretch>
        </p:blipFill>
        <p:spPr>
          <a:xfrm>
            <a:off x="8046095" y="2125736"/>
            <a:ext cx="3515216" cy="590632"/>
          </a:xfrm>
          <a:prstGeom prst="rect">
            <a:avLst/>
          </a:prstGeom>
          <a:ln>
            <a:noFill/>
          </a:ln>
          <a:effectLst>
            <a:outerShdw blurRad="292100" dist="139700" dir="2700000" algn="tl" rotWithShape="0">
              <a:srgbClr val="333333">
                <a:alpha val="65000"/>
              </a:srgbClr>
            </a:outerShdw>
          </a:effectLst>
        </p:spPr>
      </p:pic>
      <p:sp>
        <p:nvSpPr>
          <p:cNvPr id="9" name="Google Shape;110;p4">
            <a:extLst>
              <a:ext uri="{FF2B5EF4-FFF2-40B4-BE49-F238E27FC236}">
                <a16:creationId xmlns:a16="http://schemas.microsoft.com/office/drawing/2014/main" id="{6BFF8634-403D-6159-2452-7B689CDBC10D}"/>
              </a:ext>
            </a:extLst>
          </p:cNvPr>
          <p:cNvSpPr txBox="1">
            <a:spLocks/>
          </p:cNvSpPr>
          <p:nvPr/>
        </p:nvSpPr>
        <p:spPr>
          <a:xfrm>
            <a:off x="2809833" y="2959460"/>
            <a:ext cx="6572332"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2. Which country have the most invoices?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(Country with most invoice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USA 131</a:t>
            </a:r>
            <a:r>
              <a:rPr lang="en-US" sz="2000" b="1" dirty="0">
                <a:solidFill>
                  <a:schemeClr val="tx1"/>
                </a:solidFill>
                <a:latin typeface="Times New Roman" panose="02020603050405020304" pitchFamily="18" charset="0"/>
                <a:cs typeface="Times New Roman" panose="02020603050405020304" pitchFamily="18" charset="0"/>
              </a:rPr>
              <a:t>)</a:t>
            </a:r>
          </a:p>
        </p:txBody>
      </p:sp>
      <p:pic>
        <p:nvPicPr>
          <p:cNvPr id="13" name="Picture 12">
            <a:extLst>
              <a:ext uri="{FF2B5EF4-FFF2-40B4-BE49-F238E27FC236}">
                <a16:creationId xmlns:a16="http://schemas.microsoft.com/office/drawing/2014/main" id="{43EC0A8C-217D-D377-2AE9-64360DF4ABD2}"/>
              </a:ext>
            </a:extLst>
          </p:cNvPr>
          <p:cNvPicPr>
            <a:picLocks noChangeAspect="1"/>
          </p:cNvPicPr>
          <p:nvPr/>
        </p:nvPicPr>
        <p:blipFill>
          <a:blip r:embed="rId5"/>
          <a:stretch>
            <a:fillRect/>
          </a:stretch>
        </p:blipFill>
        <p:spPr>
          <a:xfrm>
            <a:off x="507182" y="4289931"/>
            <a:ext cx="7154273" cy="1324160"/>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361FD73E-8994-3E91-EDD3-52CCCB9E4B68}"/>
              </a:ext>
            </a:extLst>
          </p:cNvPr>
          <p:cNvPicPr>
            <a:picLocks noChangeAspect="1"/>
          </p:cNvPicPr>
          <p:nvPr/>
        </p:nvPicPr>
        <p:blipFill>
          <a:blip r:embed="rId6"/>
          <a:stretch>
            <a:fillRect/>
          </a:stretch>
        </p:blipFill>
        <p:spPr>
          <a:xfrm>
            <a:off x="9080966" y="4289931"/>
            <a:ext cx="1990157" cy="13241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6506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856B5859-F69C-0C47-2B05-BE39E4433F08}"/>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5ADC353-5C28-27EB-0DFB-21C3C5A71958}"/>
              </a:ext>
            </a:extLst>
          </p:cNvPr>
          <p:cNvSpPr txBox="1">
            <a:spLocks noGrp="1"/>
          </p:cNvSpPr>
          <p:nvPr>
            <p:ph type="title"/>
          </p:nvPr>
        </p:nvSpPr>
        <p:spPr>
          <a:xfrm>
            <a:off x="2809834" y="259011"/>
            <a:ext cx="6572332" cy="815409"/>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F0000"/>
              </a:buClr>
              <a:buSzPts val="4400"/>
              <a:buFont typeface="Calibri"/>
              <a:buNone/>
            </a:pPr>
            <a:r>
              <a:rPr lang="en-IN" sz="2000" b="1" dirty="0">
                <a:solidFill>
                  <a:srgbClr val="FF0000"/>
                </a:solidFill>
                <a:latin typeface="Times New Roman" panose="02020603050405020304" pitchFamily="18" charset="0"/>
                <a:cs typeface="Times New Roman" panose="02020603050405020304" pitchFamily="18" charset="0"/>
              </a:rPr>
              <a:t>3. What are the top 3 values of total invoices?</a:t>
            </a:r>
            <a:br>
              <a:rPr lang="en-IN" sz="2000" b="1" dirty="0">
                <a:solidFill>
                  <a:srgbClr val="FF0000"/>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(Top 3 invoice totals)</a:t>
            </a:r>
            <a:endParaRPr sz="2000" b="1" dirty="0">
              <a:solidFill>
                <a:schemeClr val="tx1"/>
              </a:solidFill>
              <a:latin typeface="Times New Roman" panose="02020603050405020304" pitchFamily="18" charset="0"/>
              <a:cs typeface="Times New Roman" panose="02020603050405020304" pitchFamily="18" charset="0"/>
            </a:endParaRPr>
          </a:p>
        </p:txBody>
      </p:sp>
      <p:sp>
        <p:nvSpPr>
          <p:cNvPr id="9" name="Google Shape;110;p4">
            <a:extLst>
              <a:ext uri="{FF2B5EF4-FFF2-40B4-BE49-F238E27FC236}">
                <a16:creationId xmlns:a16="http://schemas.microsoft.com/office/drawing/2014/main" id="{58979D7F-765B-41CD-8E3D-30AE5A4D2ADA}"/>
              </a:ext>
            </a:extLst>
          </p:cNvPr>
          <p:cNvSpPr txBox="1">
            <a:spLocks/>
          </p:cNvSpPr>
          <p:nvPr/>
        </p:nvSpPr>
        <p:spPr>
          <a:xfrm>
            <a:off x="420962" y="3021295"/>
            <a:ext cx="11671978"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4. Which city  has the highest sum of invoice totals. Return both the city name &amp; sum of all invoice totals?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(City with highest invoice totals </a:t>
            </a:r>
            <a:r>
              <a:rPr lang="en-US"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Prague </a:t>
            </a:r>
            <a:r>
              <a:rPr lang="en-US" sz="2000" b="1" dirty="0">
                <a:solidFill>
                  <a:schemeClr val="tx1"/>
                </a:solidFill>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EEAB7735-BA10-F303-651C-228EB7C67597}"/>
              </a:ext>
            </a:extLst>
          </p:cNvPr>
          <p:cNvPicPr>
            <a:picLocks noChangeAspect="1"/>
          </p:cNvPicPr>
          <p:nvPr/>
        </p:nvPicPr>
        <p:blipFill>
          <a:blip r:embed="rId3"/>
          <a:stretch>
            <a:fillRect/>
          </a:stretch>
        </p:blipFill>
        <p:spPr>
          <a:xfrm>
            <a:off x="1737131" y="1415554"/>
            <a:ext cx="3277057" cy="1028844"/>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03CCFB10-34A8-F770-C006-D0AF52AD28A3}"/>
              </a:ext>
            </a:extLst>
          </p:cNvPr>
          <p:cNvPicPr>
            <a:picLocks noChangeAspect="1"/>
          </p:cNvPicPr>
          <p:nvPr/>
        </p:nvPicPr>
        <p:blipFill>
          <a:blip r:embed="rId4"/>
          <a:stretch>
            <a:fillRect/>
          </a:stretch>
        </p:blipFill>
        <p:spPr>
          <a:xfrm>
            <a:off x="7966625" y="1358396"/>
            <a:ext cx="1219370" cy="1143160"/>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53C56619-D331-442D-FF9C-6DA396297B03}"/>
              </a:ext>
            </a:extLst>
          </p:cNvPr>
          <p:cNvPicPr>
            <a:picLocks noChangeAspect="1"/>
          </p:cNvPicPr>
          <p:nvPr/>
        </p:nvPicPr>
        <p:blipFill>
          <a:blip r:embed="rId5"/>
          <a:stretch>
            <a:fillRect/>
          </a:stretch>
        </p:blipFill>
        <p:spPr>
          <a:xfrm>
            <a:off x="493351" y="4249028"/>
            <a:ext cx="7611537" cy="1057423"/>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B54C5B77-D765-19BA-961B-85E5F5F8A8D4}"/>
              </a:ext>
            </a:extLst>
          </p:cNvPr>
          <p:cNvPicPr>
            <a:picLocks noChangeAspect="1"/>
          </p:cNvPicPr>
          <p:nvPr/>
        </p:nvPicPr>
        <p:blipFill>
          <a:blip r:embed="rId6"/>
          <a:stretch>
            <a:fillRect/>
          </a:stretch>
        </p:blipFill>
        <p:spPr>
          <a:xfrm>
            <a:off x="8713270" y="4356442"/>
            <a:ext cx="2857899" cy="60968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532887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C641C0E-57FF-CC14-D157-8923A4C27A4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A7F0EAB-5FE6-6807-6D1B-EE0C31217007}"/>
              </a:ext>
            </a:extLst>
          </p:cNvPr>
          <p:cNvSpPr txBox="1">
            <a:spLocks noGrp="1"/>
          </p:cNvSpPr>
          <p:nvPr>
            <p:ph type="title"/>
          </p:nvPr>
        </p:nvSpPr>
        <p:spPr>
          <a:xfrm>
            <a:off x="627676" y="254538"/>
            <a:ext cx="11258550" cy="815409"/>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000" b="1" dirty="0">
                <a:solidFill>
                  <a:srgbClr val="FF0000"/>
                </a:solidFill>
                <a:latin typeface="Times New Roman" panose="02020603050405020304" pitchFamily="18" charset="0"/>
                <a:cs typeface="Times New Roman" panose="02020603050405020304" pitchFamily="18" charset="0"/>
              </a:rPr>
              <a:t>5.</a:t>
            </a:r>
            <a:r>
              <a:rPr lang="en-US" sz="2000" b="1" dirty="0">
                <a:solidFill>
                  <a:srgbClr val="FF0000"/>
                </a:solidFill>
                <a:latin typeface="Times New Roman" panose="02020603050405020304" pitchFamily="18" charset="0"/>
                <a:cs typeface="Times New Roman" panose="02020603050405020304" pitchFamily="18" charset="0"/>
              </a:rPr>
              <a:t> Who is the best customer? Write a query that returns the person who has spent the most money</a:t>
            </a:r>
            <a:r>
              <a:rPr lang="en-IN" sz="2000" b="1" dirty="0">
                <a:solidFill>
                  <a:srgbClr val="FF0000"/>
                </a:solidFill>
                <a:latin typeface="Times New Roman" panose="02020603050405020304" pitchFamily="18" charset="0"/>
                <a:cs typeface="Times New Roman" panose="02020603050405020304" pitchFamily="18" charset="0"/>
              </a:rPr>
              <a:t>?</a:t>
            </a:r>
            <a:br>
              <a:rPr lang="en-IN" sz="2000" b="1" dirty="0">
                <a:solidFill>
                  <a:srgbClr val="FF0000"/>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(Best Customer = Highest Spending </a:t>
            </a:r>
            <a:r>
              <a:rPr lang="en-IN" sz="2000" b="1" dirty="0">
                <a:solidFill>
                  <a:schemeClr val="tx1"/>
                </a:solidFill>
                <a:latin typeface="Times New Roman" panose="02020603050405020304" pitchFamily="18" charset="0"/>
                <a:cs typeface="Times New Roman" panose="02020603050405020304" pitchFamily="18" charset="0"/>
                <a:sym typeface="Wingdings" panose="05000000000000000000" pitchFamily="2" charset="2"/>
              </a:rPr>
              <a:t> FrantiAiek WichterovAi</a:t>
            </a:r>
            <a:r>
              <a:rPr lang="en-IN" sz="2000" b="1" dirty="0">
                <a:solidFill>
                  <a:schemeClr val="tx1"/>
                </a:solidFill>
                <a:latin typeface="Times New Roman" panose="02020603050405020304" pitchFamily="18" charset="0"/>
                <a:cs typeface="Times New Roman" panose="02020603050405020304" pitchFamily="18" charset="0"/>
              </a:rPr>
              <a:t>)</a:t>
            </a:r>
            <a:endParaRPr sz="2000" b="1" dirty="0">
              <a:solidFill>
                <a:schemeClr val="tx1"/>
              </a:solidFill>
              <a:latin typeface="Times New Roman" panose="02020603050405020304" pitchFamily="18" charset="0"/>
              <a:cs typeface="Times New Roman" panose="02020603050405020304" pitchFamily="18" charset="0"/>
            </a:endParaRPr>
          </a:p>
        </p:txBody>
      </p:sp>
      <p:sp>
        <p:nvSpPr>
          <p:cNvPr id="9" name="Google Shape;110;p4">
            <a:extLst>
              <a:ext uri="{FF2B5EF4-FFF2-40B4-BE49-F238E27FC236}">
                <a16:creationId xmlns:a16="http://schemas.microsoft.com/office/drawing/2014/main" id="{C8569387-A796-51B4-2900-A5C51E368CE1}"/>
              </a:ext>
            </a:extLst>
          </p:cNvPr>
          <p:cNvSpPr txBox="1">
            <a:spLocks/>
          </p:cNvSpPr>
          <p:nvPr/>
        </p:nvSpPr>
        <p:spPr>
          <a:xfrm>
            <a:off x="0" y="3021295"/>
            <a:ext cx="12081510"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6. Write a query to return the email, first name, last name, &amp; Genre of all Rock Music listeners in alphabetical order?</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(Rock genre music listeners)</a:t>
            </a:r>
          </a:p>
        </p:txBody>
      </p:sp>
      <p:pic>
        <p:nvPicPr>
          <p:cNvPr id="11" name="Picture 10">
            <a:extLst>
              <a:ext uri="{FF2B5EF4-FFF2-40B4-BE49-F238E27FC236}">
                <a16:creationId xmlns:a16="http://schemas.microsoft.com/office/drawing/2014/main" id="{CF0492FE-30FA-6203-EB79-B613E3871083}"/>
              </a:ext>
            </a:extLst>
          </p:cNvPr>
          <p:cNvPicPr>
            <a:picLocks noChangeAspect="1"/>
          </p:cNvPicPr>
          <p:nvPr/>
        </p:nvPicPr>
        <p:blipFill>
          <a:blip r:embed="rId3"/>
          <a:stretch>
            <a:fillRect/>
          </a:stretch>
        </p:blipFill>
        <p:spPr>
          <a:xfrm>
            <a:off x="305462" y="1221841"/>
            <a:ext cx="6496172" cy="1289580"/>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327AE37F-0048-44A4-78B4-23836F40CDDD}"/>
              </a:ext>
            </a:extLst>
          </p:cNvPr>
          <p:cNvPicPr>
            <a:picLocks noChangeAspect="1"/>
          </p:cNvPicPr>
          <p:nvPr/>
        </p:nvPicPr>
        <p:blipFill>
          <a:blip r:embed="rId4"/>
          <a:stretch>
            <a:fillRect/>
          </a:stretch>
        </p:blipFill>
        <p:spPr>
          <a:xfrm>
            <a:off x="8027374" y="1622936"/>
            <a:ext cx="3543795" cy="638264"/>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1F41F1BA-AC46-8D63-B883-7327DA6F181E}"/>
              </a:ext>
            </a:extLst>
          </p:cNvPr>
          <p:cNvPicPr>
            <a:picLocks noChangeAspect="1"/>
          </p:cNvPicPr>
          <p:nvPr/>
        </p:nvPicPr>
        <p:blipFill>
          <a:blip r:embed="rId5"/>
          <a:stretch>
            <a:fillRect/>
          </a:stretch>
        </p:blipFill>
        <p:spPr>
          <a:xfrm>
            <a:off x="418195" y="3986700"/>
            <a:ext cx="6056039" cy="2453164"/>
          </a:xfrm>
          <a:prstGeom prst="rect">
            <a:avLst/>
          </a:prstGeom>
          <a:ln>
            <a:no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292111CA-E0B3-2779-0C9A-E235DF51A957}"/>
              </a:ext>
            </a:extLst>
          </p:cNvPr>
          <p:cNvPicPr>
            <a:picLocks noChangeAspect="1"/>
          </p:cNvPicPr>
          <p:nvPr/>
        </p:nvPicPr>
        <p:blipFill>
          <a:blip r:embed="rId6"/>
          <a:stretch>
            <a:fillRect/>
          </a:stretch>
        </p:blipFill>
        <p:spPr>
          <a:xfrm>
            <a:off x="7943221" y="3986700"/>
            <a:ext cx="3098160" cy="204099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6274579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FDB6D66-605F-F15E-83E5-7966F6571A0B}"/>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1713518-91AA-C293-80A3-9BE678470F2A}"/>
              </a:ext>
            </a:extLst>
          </p:cNvPr>
          <p:cNvSpPr txBox="1">
            <a:spLocks noGrp="1"/>
          </p:cNvSpPr>
          <p:nvPr>
            <p:ph type="title"/>
          </p:nvPr>
        </p:nvSpPr>
        <p:spPr>
          <a:xfrm>
            <a:off x="627676" y="151668"/>
            <a:ext cx="11258550" cy="690565"/>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000" b="1" dirty="0">
                <a:solidFill>
                  <a:srgbClr val="FF0000"/>
                </a:solidFill>
                <a:latin typeface="Times New Roman" panose="02020603050405020304" pitchFamily="18" charset="0"/>
                <a:cs typeface="Times New Roman" panose="02020603050405020304" pitchFamily="18" charset="0"/>
              </a:rPr>
              <a:t>7.</a:t>
            </a:r>
            <a:r>
              <a:rPr lang="en-US" sz="2000" b="1" dirty="0">
                <a:solidFill>
                  <a:srgbClr val="FF0000"/>
                </a:solidFill>
                <a:latin typeface="Times New Roman" panose="02020603050405020304" pitchFamily="18" charset="0"/>
                <a:cs typeface="Times New Roman" panose="02020603050405020304" pitchFamily="18" charset="0"/>
              </a:rPr>
              <a:t> Write a query that returns the Artist name and total track count of the top 10 rock bands </a:t>
            </a:r>
            <a:r>
              <a:rPr lang="en-IN" sz="2000" b="1" dirty="0">
                <a:solidFill>
                  <a:srgbClr val="FF0000"/>
                </a:solidFill>
                <a:latin typeface="Times New Roman" panose="02020603050405020304" pitchFamily="18" charset="0"/>
                <a:cs typeface="Times New Roman" panose="02020603050405020304" pitchFamily="18" charset="0"/>
              </a:rPr>
              <a:t>?</a:t>
            </a:r>
            <a:br>
              <a:rPr lang="en-IN" sz="2000" b="1" dirty="0">
                <a:solidFill>
                  <a:srgbClr val="FF0000"/>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(Top 10 Rock genre artists)</a:t>
            </a:r>
            <a:endParaRPr sz="2000" b="1" dirty="0">
              <a:solidFill>
                <a:schemeClr val="tx1"/>
              </a:solidFill>
              <a:latin typeface="Times New Roman" panose="02020603050405020304" pitchFamily="18" charset="0"/>
              <a:cs typeface="Times New Roman" panose="02020603050405020304" pitchFamily="18" charset="0"/>
            </a:endParaRPr>
          </a:p>
        </p:txBody>
      </p:sp>
      <p:sp>
        <p:nvSpPr>
          <p:cNvPr id="9" name="Google Shape;110;p4">
            <a:extLst>
              <a:ext uri="{FF2B5EF4-FFF2-40B4-BE49-F238E27FC236}">
                <a16:creationId xmlns:a16="http://schemas.microsoft.com/office/drawing/2014/main" id="{29333BA5-D1E4-92B3-622B-871362ABA20C}"/>
              </a:ext>
            </a:extLst>
          </p:cNvPr>
          <p:cNvSpPr txBox="1">
            <a:spLocks/>
          </p:cNvSpPr>
          <p:nvPr/>
        </p:nvSpPr>
        <p:spPr>
          <a:xfrm>
            <a:off x="0" y="3284185"/>
            <a:ext cx="12081510"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8. Return all the track names that have a song length longer than the average song length.- Return the Name and Milliseconds for each track. Order by the song length, with the longest songs listed first?</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(Tracks longer than average song length)</a:t>
            </a:r>
          </a:p>
        </p:txBody>
      </p:sp>
      <p:pic>
        <p:nvPicPr>
          <p:cNvPr id="3" name="Picture 2">
            <a:extLst>
              <a:ext uri="{FF2B5EF4-FFF2-40B4-BE49-F238E27FC236}">
                <a16:creationId xmlns:a16="http://schemas.microsoft.com/office/drawing/2014/main" id="{C9D87781-5620-F915-81BC-07EA9C78E8F8}"/>
              </a:ext>
            </a:extLst>
          </p:cNvPr>
          <p:cNvPicPr>
            <a:picLocks noChangeAspect="1"/>
          </p:cNvPicPr>
          <p:nvPr/>
        </p:nvPicPr>
        <p:blipFill>
          <a:blip r:embed="rId3"/>
          <a:stretch>
            <a:fillRect/>
          </a:stretch>
        </p:blipFill>
        <p:spPr>
          <a:xfrm>
            <a:off x="1073446" y="945103"/>
            <a:ext cx="3339156" cy="2111248"/>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0FED5702-C91D-E8F2-C4F5-436D5EDF0F9B}"/>
              </a:ext>
            </a:extLst>
          </p:cNvPr>
          <p:cNvPicPr>
            <a:picLocks noChangeAspect="1"/>
          </p:cNvPicPr>
          <p:nvPr/>
        </p:nvPicPr>
        <p:blipFill>
          <a:blip r:embed="rId4"/>
          <a:stretch>
            <a:fillRect/>
          </a:stretch>
        </p:blipFill>
        <p:spPr>
          <a:xfrm>
            <a:off x="8072079" y="842233"/>
            <a:ext cx="2404298" cy="1958071"/>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C78EBE12-1B53-77A0-4A88-ABC753734420}"/>
              </a:ext>
            </a:extLst>
          </p:cNvPr>
          <p:cNvPicPr>
            <a:picLocks noChangeAspect="1"/>
          </p:cNvPicPr>
          <p:nvPr/>
        </p:nvPicPr>
        <p:blipFill>
          <a:blip r:embed="rId5"/>
          <a:stretch>
            <a:fillRect/>
          </a:stretch>
        </p:blipFill>
        <p:spPr>
          <a:xfrm>
            <a:off x="606064" y="4317095"/>
            <a:ext cx="5622799" cy="1119272"/>
          </a:xfrm>
          <a:prstGeom prst="rect">
            <a:avLst/>
          </a:prstGeom>
          <a:ln>
            <a:noFill/>
          </a:ln>
          <a:effectLst>
            <a:outerShdw blurRad="292100" dist="139700" dir="2700000" algn="tl" rotWithShape="0">
              <a:srgbClr val="333333">
                <a:alpha val="65000"/>
              </a:srgbClr>
            </a:outerShdw>
          </a:effectLst>
        </p:spPr>
      </p:pic>
      <p:pic>
        <p:nvPicPr>
          <p:cNvPr id="10" name="Picture 9">
            <a:extLst>
              <a:ext uri="{FF2B5EF4-FFF2-40B4-BE49-F238E27FC236}">
                <a16:creationId xmlns:a16="http://schemas.microsoft.com/office/drawing/2014/main" id="{E659EE71-05AA-BD8B-0D75-4CB279951860}"/>
              </a:ext>
            </a:extLst>
          </p:cNvPr>
          <p:cNvPicPr>
            <a:picLocks noChangeAspect="1"/>
          </p:cNvPicPr>
          <p:nvPr/>
        </p:nvPicPr>
        <p:blipFill>
          <a:blip r:embed="rId6"/>
          <a:stretch>
            <a:fillRect/>
          </a:stretch>
        </p:blipFill>
        <p:spPr>
          <a:xfrm>
            <a:off x="8576047" y="4099594"/>
            <a:ext cx="2453785" cy="195807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17191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F3007D1-F9F6-40BF-92CB-4500CF62B96E}"/>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C8CF879-FB56-8AFE-8913-EB4BC580047E}"/>
              </a:ext>
            </a:extLst>
          </p:cNvPr>
          <p:cNvSpPr txBox="1">
            <a:spLocks noGrp="1"/>
          </p:cNvSpPr>
          <p:nvPr>
            <p:ph type="title"/>
          </p:nvPr>
        </p:nvSpPr>
        <p:spPr>
          <a:xfrm>
            <a:off x="627676" y="254538"/>
            <a:ext cx="11258550" cy="815409"/>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000" b="1" dirty="0">
                <a:solidFill>
                  <a:srgbClr val="FF0000"/>
                </a:solidFill>
                <a:latin typeface="Times New Roman" panose="02020603050405020304" pitchFamily="18" charset="0"/>
                <a:cs typeface="Times New Roman" panose="02020603050405020304" pitchFamily="18" charset="0"/>
              </a:rPr>
              <a:t>9.</a:t>
            </a:r>
            <a:r>
              <a:rPr lang="en-US" sz="2000" b="1" dirty="0">
                <a:solidFill>
                  <a:srgbClr val="FF0000"/>
                </a:solidFill>
                <a:latin typeface="Times New Roman" panose="02020603050405020304" pitchFamily="18" charset="0"/>
                <a:cs typeface="Times New Roman" panose="02020603050405020304" pitchFamily="18" charset="0"/>
              </a:rPr>
              <a:t> Find how much amount is spent by each customer on artists? Write a query to return customer name, artist name and total spent</a:t>
            </a:r>
            <a:r>
              <a:rPr lang="en-IN" sz="2000" b="1" dirty="0">
                <a:solidFill>
                  <a:srgbClr val="FF0000"/>
                </a:solidFill>
                <a:latin typeface="Times New Roman" panose="02020603050405020304" pitchFamily="18" charset="0"/>
                <a:cs typeface="Times New Roman" panose="02020603050405020304" pitchFamily="18" charset="0"/>
              </a:rPr>
              <a:t>?</a:t>
            </a:r>
            <a:br>
              <a:rPr lang="en-IN" sz="2000" b="1" dirty="0">
                <a:solidFill>
                  <a:srgbClr val="FF0000"/>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(Customer spending on artist)</a:t>
            </a:r>
            <a:endParaRPr sz="2000" b="1" dirty="0">
              <a:solidFill>
                <a:schemeClr val="tx1"/>
              </a:solidFill>
              <a:latin typeface="Times New Roman" panose="02020603050405020304" pitchFamily="18" charset="0"/>
              <a:cs typeface="Times New Roman" panose="02020603050405020304" pitchFamily="18" charset="0"/>
            </a:endParaRPr>
          </a:p>
        </p:txBody>
      </p:sp>
      <p:sp>
        <p:nvSpPr>
          <p:cNvPr id="9" name="Google Shape;110;p4">
            <a:extLst>
              <a:ext uri="{FF2B5EF4-FFF2-40B4-BE49-F238E27FC236}">
                <a16:creationId xmlns:a16="http://schemas.microsoft.com/office/drawing/2014/main" id="{531DE14C-44B5-B6EA-DD4D-9C692CF517E9}"/>
              </a:ext>
            </a:extLst>
          </p:cNvPr>
          <p:cNvSpPr txBox="1">
            <a:spLocks/>
          </p:cNvSpPr>
          <p:nvPr/>
        </p:nvSpPr>
        <p:spPr>
          <a:xfrm>
            <a:off x="0" y="3021295"/>
            <a:ext cx="12081510" cy="81540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rgbClr val="FF0000"/>
              </a:buClr>
              <a:buSzPts val="4400"/>
            </a:pPr>
            <a:r>
              <a:rPr lang="en-US" sz="2000" b="1" dirty="0">
                <a:solidFill>
                  <a:srgbClr val="FF0000"/>
                </a:solidFill>
                <a:latin typeface="Times New Roman" panose="02020603050405020304" pitchFamily="18" charset="0"/>
                <a:cs typeface="Times New Roman" panose="02020603050405020304" pitchFamily="18" charset="0"/>
              </a:rPr>
              <a:t>10. Write a query that returns each country along with the top Genre. For countries where the maximum number of purchases is shared, return all Genres?</a:t>
            </a:r>
            <a:br>
              <a:rPr lang="en-US" sz="2000" b="1" dirty="0">
                <a:solidFill>
                  <a:srgbClr val="FF0000"/>
                </a:solidFill>
                <a:latin typeface="Times New Roman" panose="02020603050405020304" pitchFamily="18" charset="0"/>
                <a:cs typeface="Times New Roman" panose="02020603050405020304" pitchFamily="18" charset="0"/>
              </a:rPr>
            </a:br>
            <a:r>
              <a:rPr lang="en-US" sz="2000" b="1" dirty="0">
                <a:solidFill>
                  <a:schemeClr val="tx1"/>
                </a:solidFill>
                <a:latin typeface="Times New Roman" panose="02020603050405020304" pitchFamily="18" charset="0"/>
                <a:cs typeface="Times New Roman" panose="02020603050405020304" pitchFamily="18" charset="0"/>
              </a:rPr>
              <a:t>(Most popular genre by country)</a:t>
            </a:r>
          </a:p>
        </p:txBody>
      </p:sp>
      <p:pic>
        <p:nvPicPr>
          <p:cNvPr id="6" name="Picture 5">
            <a:extLst>
              <a:ext uri="{FF2B5EF4-FFF2-40B4-BE49-F238E27FC236}">
                <a16:creationId xmlns:a16="http://schemas.microsoft.com/office/drawing/2014/main" id="{5D264EA0-3CA3-7A23-EAC4-8903E76675AF}"/>
              </a:ext>
            </a:extLst>
          </p:cNvPr>
          <p:cNvPicPr>
            <a:picLocks noChangeAspect="1"/>
          </p:cNvPicPr>
          <p:nvPr/>
        </p:nvPicPr>
        <p:blipFill>
          <a:blip r:embed="rId3"/>
          <a:stretch>
            <a:fillRect/>
          </a:stretch>
        </p:blipFill>
        <p:spPr>
          <a:xfrm>
            <a:off x="493351" y="1219943"/>
            <a:ext cx="6056039" cy="1357812"/>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07BFCBEF-4BDD-A477-3CA9-EB3B128BAB81}"/>
              </a:ext>
            </a:extLst>
          </p:cNvPr>
          <p:cNvPicPr>
            <a:picLocks noChangeAspect="1"/>
          </p:cNvPicPr>
          <p:nvPr/>
        </p:nvPicPr>
        <p:blipFill>
          <a:blip r:embed="rId4"/>
          <a:stretch>
            <a:fillRect/>
          </a:stretch>
        </p:blipFill>
        <p:spPr>
          <a:xfrm>
            <a:off x="8456452" y="788687"/>
            <a:ext cx="3105225" cy="2082696"/>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56A35C78-DB6D-387C-361C-814A769289EF}"/>
              </a:ext>
            </a:extLst>
          </p:cNvPr>
          <p:cNvPicPr>
            <a:picLocks noChangeAspect="1"/>
          </p:cNvPicPr>
          <p:nvPr/>
        </p:nvPicPr>
        <p:blipFill>
          <a:blip r:embed="rId5"/>
          <a:stretch>
            <a:fillRect/>
          </a:stretch>
        </p:blipFill>
        <p:spPr>
          <a:xfrm>
            <a:off x="361774" y="3986616"/>
            <a:ext cx="6187616" cy="2616846"/>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BA28A75-D7D9-7803-8E78-E4ADC0BBE6C3}"/>
              </a:ext>
            </a:extLst>
          </p:cNvPr>
          <p:cNvPicPr>
            <a:picLocks noChangeAspect="1"/>
          </p:cNvPicPr>
          <p:nvPr/>
        </p:nvPicPr>
        <p:blipFill>
          <a:blip r:embed="rId6"/>
          <a:stretch>
            <a:fillRect/>
          </a:stretch>
        </p:blipFill>
        <p:spPr>
          <a:xfrm>
            <a:off x="8739591" y="3986616"/>
            <a:ext cx="2792753" cy="221376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4013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9CF5528D-53B8-5A74-6091-66DAEB9C2CE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DDF02903-C00E-76E8-8235-8B6F2513E50A}"/>
              </a:ext>
            </a:extLst>
          </p:cNvPr>
          <p:cNvSpPr txBox="1">
            <a:spLocks noGrp="1"/>
          </p:cNvSpPr>
          <p:nvPr>
            <p:ph type="title"/>
          </p:nvPr>
        </p:nvSpPr>
        <p:spPr>
          <a:xfrm>
            <a:off x="627676" y="1469560"/>
            <a:ext cx="11258550" cy="815409"/>
          </a:xfrm>
          <a:prstGeom prst="rect">
            <a:avLst/>
          </a:prstGeom>
          <a:noFill/>
          <a:ln>
            <a:noFill/>
          </a:ln>
        </p:spPr>
        <p:txBody>
          <a:bodyPr spcFirstLastPara="1" wrap="square" lIns="91425" tIns="45700" rIns="91425" bIns="45700" anchor="ctr" anchorCtr="0">
            <a:noAutofit/>
          </a:bodyPr>
          <a:lstStyle/>
          <a:p>
            <a:pPr lvl="0" algn="ctr">
              <a:buClr>
                <a:srgbClr val="FF0000"/>
              </a:buClr>
              <a:buSzPts val="4400"/>
            </a:pPr>
            <a:r>
              <a:rPr lang="en-IN" sz="2000" b="1" dirty="0">
                <a:solidFill>
                  <a:srgbClr val="FF0000"/>
                </a:solidFill>
                <a:latin typeface="Times New Roman" panose="02020603050405020304" pitchFamily="18" charset="0"/>
                <a:cs typeface="Times New Roman" panose="02020603050405020304" pitchFamily="18" charset="0"/>
              </a:rPr>
              <a:t>11.</a:t>
            </a:r>
            <a:r>
              <a:rPr lang="en-US" sz="2000" b="1" dirty="0">
                <a:solidFill>
                  <a:srgbClr val="FF0000"/>
                </a:solidFill>
                <a:latin typeface="Times New Roman" panose="02020603050405020304" pitchFamily="18" charset="0"/>
                <a:cs typeface="Times New Roman" panose="02020603050405020304" pitchFamily="18" charset="0"/>
              </a:rPr>
              <a:t> Write a query that returns the country along with the top customer and how much they spent. For countries where the top amount spent is shared, provide all customers who spent this amount</a:t>
            </a:r>
            <a:r>
              <a:rPr lang="en-IN" sz="2000" b="1" dirty="0">
                <a:solidFill>
                  <a:srgbClr val="FF0000"/>
                </a:solidFill>
                <a:latin typeface="Times New Roman" panose="02020603050405020304" pitchFamily="18" charset="0"/>
                <a:cs typeface="Times New Roman" panose="02020603050405020304" pitchFamily="18" charset="0"/>
              </a:rPr>
              <a:t>?</a:t>
            </a:r>
            <a:br>
              <a:rPr lang="en-IN" sz="2000" b="1" dirty="0">
                <a:solidFill>
                  <a:srgbClr val="FF0000"/>
                </a:solidFill>
                <a:latin typeface="Times New Roman" panose="02020603050405020304" pitchFamily="18" charset="0"/>
                <a:cs typeface="Times New Roman" panose="02020603050405020304" pitchFamily="18" charset="0"/>
              </a:rPr>
            </a:br>
            <a:r>
              <a:rPr lang="en-IN" sz="2000" b="1" dirty="0">
                <a:solidFill>
                  <a:schemeClr val="tx1"/>
                </a:solidFill>
                <a:latin typeface="Times New Roman" panose="02020603050405020304" pitchFamily="18" charset="0"/>
                <a:cs typeface="Times New Roman" panose="02020603050405020304" pitchFamily="18" charset="0"/>
              </a:rPr>
              <a:t>(Top customer per country)</a:t>
            </a:r>
            <a:endParaRPr sz="20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70622A7-6B98-7EC6-1127-56F83B2CDAF1}"/>
              </a:ext>
            </a:extLst>
          </p:cNvPr>
          <p:cNvPicPr>
            <a:picLocks noChangeAspect="1"/>
          </p:cNvPicPr>
          <p:nvPr/>
        </p:nvPicPr>
        <p:blipFill>
          <a:blip r:embed="rId3"/>
          <a:stretch>
            <a:fillRect/>
          </a:stretch>
        </p:blipFill>
        <p:spPr>
          <a:xfrm>
            <a:off x="627676" y="3714472"/>
            <a:ext cx="6201526" cy="1717768"/>
          </a:xfrm>
          <a:prstGeom prst="rect">
            <a:avLst/>
          </a:prstGeom>
        </p:spPr>
      </p:pic>
      <p:pic>
        <p:nvPicPr>
          <p:cNvPr id="5" name="Picture 4">
            <a:extLst>
              <a:ext uri="{FF2B5EF4-FFF2-40B4-BE49-F238E27FC236}">
                <a16:creationId xmlns:a16="http://schemas.microsoft.com/office/drawing/2014/main" id="{C2BF0FF3-AAE7-C929-3260-5889F924DF17}"/>
              </a:ext>
            </a:extLst>
          </p:cNvPr>
          <p:cNvPicPr>
            <a:picLocks noChangeAspect="1"/>
          </p:cNvPicPr>
          <p:nvPr/>
        </p:nvPicPr>
        <p:blipFill>
          <a:blip r:embed="rId4"/>
          <a:stretch>
            <a:fillRect/>
          </a:stretch>
        </p:blipFill>
        <p:spPr>
          <a:xfrm>
            <a:off x="7663327" y="3534347"/>
            <a:ext cx="3622187" cy="2299645"/>
          </a:xfrm>
          <a:prstGeom prst="rect">
            <a:avLst/>
          </a:prstGeom>
        </p:spPr>
      </p:pic>
    </p:spTree>
    <p:extLst>
      <p:ext uri="{BB962C8B-B14F-4D97-AF65-F5344CB8AC3E}">
        <p14:creationId xmlns:p14="http://schemas.microsoft.com/office/powerpoint/2010/main" val="2168483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F46CA13-235C-319C-2FFD-5D7AF6B8C472}"/>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3C46DAFD-09F1-FB11-AA52-FC0E85F9B762}"/>
              </a:ext>
            </a:extLst>
          </p:cNvPr>
          <p:cNvSpPr txBox="1">
            <a:spLocks noGrp="1"/>
          </p:cNvSpPr>
          <p:nvPr>
            <p:ph type="title"/>
          </p:nvPr>
        </p:nvSpPr>
        <p:spPr>
          <a:xfrm>
            <a:off x="4392766" y="167571"/>
            <a:ext cx="34064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Key</a:t>
            </a:r>
            <a:r>
              <a:rPr lang="en-IN" b="1" dirty="0">
                <a:solidFill>
                  <a:srgbClr val="FF0000"/>
                </a:solidFill>
                <a:latin typeface="Times New Roman" panose="02020603050405020304" pitchFamily="18" charset="0"/>
                <a:cs typeface="Times New Roman" panose="02020603050405020304" pitchFamily="18" charset="0"/>
              </a:rPr>
              <a:t> </a:t>
            </a:r>
            <a:r>
              <a:rPr lang="en-IN" b="1" dirty="0">
                <a:solidFill>
                  <a:srgbClr val="C00000"/>
                </a:solidFill>
                <a:latin typeface="Times New Roman" panose="02020603050405020304" pitchFamily="18" charset="0"/>
                <a:cs typeface="Times New Roman" panose="02020603050405020304" pitchFamily="18" charset="0"/>
              </a:rPr>
              <a:t>Insights</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E9BEB76-EA73-016D-C22C-6DAE503DF8AA}"/>
              </a:ext>
            </a:extLst>
          </p:cNvPr>
          <p:cNvSpPr>
            <a:spLocks noGrp="1"/>
          </p:cNvSpPr>
          <p:nvPr>
            <p:ph type="body" idx="1"/>
          </p:nvPr>
        </p:nvSpPr>
        <p:spPr>
          <a:xfrm>
            <a:off x="838200" y="1108710"/>
            <a:ext cx="10786110" cy="3480223"/>
          </a:xfrm>
        </p:spPr>
        <p:txBody>
          <a:bodyPr>
            <a:normAutofit/>
          </a:bodyPr>
          <a:lstStyle/>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Revenue is concentrated in specific cities and countries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A small percentage of customers contribute most sales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Certain genres dominate in particular regions,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Rock genre dominates overall purchases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Rock music has strong listener base</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Popular artists significantly influence purchasing pattern</a:t>
            </a:r>
          </a:p>
          <a:p>
            <a:pPr marL="114300" indent="0">
              <a:buClr>
                <a:srgbClr val="C00000"/>
              </a:buClr>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4996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180D198-5962-7C83-6913-12F707356A0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D332CEB-12D1-0B68-C22A-FDFE57C483D4}"/>
              </a:ext>
            </a:extLst>
          </p:cNvPr>
          <p:cNvSpPr txBox="1">
            <a:spLocks noGrp="1"/>
          </p:cNvSpPr>
          <p:nvPr>
            <p:ph type="title"/>
          </p:nvPr>
        </p:nvSpPr>
        <p:spPr>
          <a:xfrm>
            <a:off x="3872571" y="293301"/>
            <a:ext cx="47173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Recommendations</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A56CBE5-F47C-282E-5B76-693DE23240A1}"/>
              </a:ext>
            </a:extLst>
          </p:cNvPr>
          <p:cNvSpPr>
            <a:spLocks noGrp="1"/>
          </p:cNvSpPr>
          <p:nvPr>
            <p:ph type="body" idx="1"/>
          </p:nvPr>
        </p:nvSpPr>
        <p:spPr>
          <a:xfrm>
            <a:off x="838200" y="1108710"/>
            <a:ext cx="10786110" cy="3480223"/>
          </a:xfrm>
        </p:spPr>
        <p:txBody>
          <a:bodyPr>
            <a:normAutofit/>
          </a:bodyPr>
          <a:lstStyle/>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Focus marketing on High –Revenue Regions.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Reward Top Customers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Promote Popular Music Genres.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Collaborate with Top Artists.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Personalize Recommendations.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Target Region –Specific Preferences.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Focus on High – Revenue Cities.</a:t>
            </a:r>
          </a:p>
          <a:p>
            <a:pPr marL="114300" indent="0">
              <a:buClr>
                <a:srgbClr val="C00000"/>
              </a:buClr>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3026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5EA7B54-7D81-11A2-2C59-E89F1E744D66}"/>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7C23B8CE-472D-34A0-CD88-4EC186B0F758}"/>
              </a:ext>
            </a:extLst>
          </p:cNvPr>
          <p:cNvSpPr txBox="1">
            <a:spLocks noGrp="1"/>
          </p:cNvSpPr>
          <p:nvPr>
            <p:ph type="title"/>
          </p:nvPr>
        </p:nvSpPr>
        <p:spPr>
          <a:xfrm>
            <a:off x="3872571" y="293301"/>
            <a:ext cx="4717367" cy="81540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C00000"/>
                </a:solidFill>
                <a:latin typeface="Times New Roman" panose="02020603050405020304" pitchFamily="18" charset="0"/>
                <a:cs typeface="Times New Roman" panose="02020603050405020304" pitchFamily="18" charset="0"/>
              </a:rPr>
              <a:t>Conclusion</a:t>
            </a:r>
            <a:endParaRPr b="1" dirty="0">
              <a:solidFill>
                <a:srgbClr val="C0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8939EA6-2C74-31FD-85F5-3DDAB9DA6763}"/>
              </a:ext>
            </a:extLst>
          </p:cNvPr>
          <p:cNvSpPr>
            <a:spLocks noGrp="1"/>
          </p:cNvSpPr>
          <p:nvPr>
            <p:ph type="body" idx="1"/>
          </p:nvPr>
        </p:nvSpPr>
        <p:spPr>
          <a:xfrm>
            <a:off x="838200" y="1108710"/>
            <a:ext cx="10786110" cy="3480223"/>
          </a:xfrm>
        </p:spPr>
        <p:txBody>
          <a:bodyPr>
            <a:normAutofit/>
          </a:bodyPr>
          <a:lstStyle/>
          <a:p>
            <a:pPr marL="114300" indent="0">
              <a:buClr>
                <a:srgbClr val="C00000"/>
              </a:buClr>
              <a:buNone/>
            </a:pPr>
            <a:r>
              <a:rPr lang="en-US" sz="2600" dirty="0">
                <a:latin typeface="Times New Roman" panose="02020603050405020304" pitchFamily="18" charset="0"/>
                <a:cs typeface="Times New Roman" panose="02020603050405020304" pitchFamily="18" charset="0"/>
              </a:rPr>
              <a:t>This Project demonstrates how SQL can be used to transform raw transactional data into actionable business insights.</a:t>
            </a:r>
          </a:p>
          <a:p>
            <a:pPr marL="114300" indent="0">
              <a:buClr>
                <a:srgbClr val="C00000"/>
              </a:buClr>
              <a:buNone/>
            </a:pPr>
            <a:r>
              <a:rPr lang="en-US" sz="2600" dirty="0">
                <a:latin typeface="Times New Roman" panose="02020603050405020304" pitchFamily="18" charset="0"/>
                <a:cs typeface="Times New Roman" panose="02020603050405020304" pitchFamily="18" charset="0"/>
              </a:rPr>
              <a:t>Through the analysis:</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Customer behaviour patterns were analyzed.</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Revenue trends were analyzed</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Market preferences were understood</a:t>
            </a:r>
          </a:p>
          <a:p>
            <a:pPr>
              <a:buClr>
                <a:srgbClr val="C00000"/>
              </a:buClr>
              <a:buFont typeface="Times New Roman" panose="02020603050405020304" pitchFamily="18" charset="0"/>
              <a:buChar char="☻"/>
            </a:pPr>
            <a:r>
              <a:rPr lang="en-US" sz="2600" dirty="0">
                <a:latin typeface="Times New Roman" panose="02020603050405020304" pitchFamily="18" charset="0"/>
                <a:cs typeface="Times New Roman" panose="02020603050405020304" pitchFamily="18" charset="0"/>
              </a:rPr>
              <a:t>Strategic decisions can be supported.</a:t>
            </a:r>
          </a:p>
          <a:p>
            <a:pPr marL="114300" indent="0">
              <a:buClr>
                <a:srgbClr val="C00000"/>
              </a:buClr>
              <a:buNone/>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6707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6" name="Picture 5">
            <a:extLst>
              <a:ext uri="{FF2B5EF4-FFF2-40B4-BE49-F238E27FC236}">
                <a16:creationId xmlns:a16="http://schemas.microsoft.com/office/drawing/2014/main" id="{F022BA6C-EB9E-3200-B08E-7AEE0C06D8C3}"/>
              </a:ext>
            </a:extLst>
          </p:cNvPr>
          <p:cNvPicPr>
            <a:picLocks noChangeAspect="1"/>
          </p:cNvPicPr>
          <p:nvPr/>
        </p:nvPicPr>
        <p:blipFill>
          <a:blip r:embed="rId3"/>
          <a:stretch>
            <a:fillRect/>
          </a:stretch>
        </p:blipFill>
        <p:spPr>
          <a:xfrm>
            <a:off x="841812" y="1377863"/>
            <a:ext cx="10508375" cy="346321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480</TotalTime>
  <Words>1063</Words>
  <Application>Microsoft Office PowerPoint</Application>
  <PresentationFormat>Widescreen</PresentationFormat>
  <Paragraphs>75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Times New Roman</vt:lpstr>
      <vt:lpstr>Calibri</vt:lpstr>
      <vt:lpstr>Arial</vt:lpstr>
      <vt:lpstr>Office Theme</vt:lpstr>
      <vt:lpstr>PowerPoint Presentation</vt:lpstr>
      <vt:lpstr>Introduction</vt:lpstr>
      <vt:lpstr>Objective</vt:lpstr>
      <vt:lpstr>Tables</vt:lpstr>
      <vt:lpstr>1. Genre Table</vt:lpstr>
      <vt:lpstr>6. Album Table</vt:lpstr>
      <vt:lpstr>11. Playlisttrack Table</vt:lpstr>
      <vt:lpstr>ER Diagram</vt:lpstr>
      <vt:lpstr>Analysis</vt:lpstr>
      <vt:lpstr>1. Who is the senior most employee based on job title? (Senior Most Employee  Madhan Mohan [S.G.M])</vt:lpstr>
      <vt:lpstr>3. What are the top 3 values of total invoices? (Top 3 invoice totals)</vt:lpstr>
      <vt:lpstr>5. Who is the best customer? Write a query that returns the person who has spent the most money? (Best Customer = Highest Spending  FrantiAiek WichterovAi)</vt:lpstr>
      <vt:lpstr>7. Write a query that returns the Artist name and total track count of the top 10 rock bands ? (Top 10 Rock genre artists)</vt:lpstr>
      <vt:lpstr>9. Find how much amount is spent by each customer on artists? Write a query to return customer name, artist name and total spent? (Customer spending on artist)</vt:lpstr>
      <vt:lpstr>11. Write a query that returns the country along with the top customer and how much they spent. For countries where the top amount spent is shared, provide all customers who spent this amount? (Top customer per country)</vt:lpstr>
      <vt:lpstr>Key Insights</vt:lpstr>
      <vt:lpstr>Recommendations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KORA KASI OBUL REDDY</cp:lastModifiedBy>
  <cp:revision>5</cp:revision>
  <dcterms:created xsi:type="dcterms:W3CDTF">2021-02-16T05:19:01Z</dcterms:created>
  <dcterms:modified xsi:type="dcterms:W3CDTF">2026-03-10T10:36:57Z</dcterms:modified>
</cp:coreProperties>
</file>